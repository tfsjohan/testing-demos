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397"/>
  </p:normalViewPr>
  <p:slideViewPr>
    <p:cSldViewPr snapToGrid="0" snapToObjects="1">
      <p:cViewPr varScale="1">
        <p:scale>
          <a:sx n="181" d="100"/>
          <a:sy n="181" d="100"/>
        </p:scale>
        <p:origin x="184" y="8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91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Hej och välkomna. Idag ska vi prata testning. Ni är duktiga utvecklare, ni har skrivit .NET och TypeScript i flera år, men många av er har aldrig skrivit ett enda enhetstest. Det är inget att skämmas över — det är vanligare än man tror. Målet idag är inte att jag ska övertyga er om att testning är moraliskt rätt, utan att ni ska gå härifrån och kunna skriva ert första rimliga test imorgon bitti. Vi kommer hålla oss till stacken vi faktiskt jobbar med: xUnit i .NET, Jest i TypeScript, NSubstitute för mockning, Bogus för testdata, och office-addin-mock när vi rör Office.js. Avbryt gärna med frågor — det är bättre att vi reder ut något halvvägs än att ni gissar er fram efteråt.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klassiska invändningen är "vi hinner inte testa". Men tänk på er egen vardag. Hur testar ni idag att en ny funktion i ett Excel-tillägg fungerar? Ni bygger, sideloadar tillägget, väntar på att Excel startar, klickar er fram till rätt cell, ser att det blev fel, lägger en console.log, börjar om. Det är minuter per iteration. Ett enhetstest kör på millisekunder. Den andra stora vinsten kommer sex månader senare när någon ska ändra logiken i en faktureringsregel och inte vågar för att det är okänt vad som händer. Tester är den enda trovärdiga dokumentationen vi har på hur koden faktiskt beter sig, för kommentarer ljuger och Confluence är inaktuellt.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Begreppet "testpyramid" kommer från Mike Cohns bok Succeeding with Agile (2009), och har sedan dess populariserats av bland andra Martin Fowler. Idén håller än. Många tester längst ner där de är billiga, få tester längst upp där de är dyra. En vanlig nybörjarfälla är att hoppa direkt till E2E — "vi kör Playwright mot vår task pane". Det fungerar tills ni har 50 sådana tester och varje CI-bygge tar 45 minuter, hälften av testen är flaky, och ingen litar på röda byggen längre. Lägg er energi i botten av pyramiden först. För våra typer av system — Office-tillägg och små backends — fungerar 70/20/10 som riktmärke ganska bra.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slidet jag vill att ni fotograferar med mobilen. Fyra kolumner — vad det testar, hur snabbt, när, och med vilka verktyg. Lägg märke till att mutation testing är på en helt annan abstraktionsnivå — det testar inte din kod, det testar dina tester. Stryker.NET tar din kod, ändrar ett &gt; till ett &gt;=, ett + till ett -, ett true till ett false, och kör om alla dina tester. Om testerna fortfarande går grönt så har du en "överlevande mutant" — alltså en bugg du själv just införde, som inga av dina tester upptäckte. Det är ett brutalt ärligt mått på testkvalitet. Vi går inte djupare in på mutation idag, men kom ihåg att det finns när någon säger "vi har 95% kodtäckning" — täckning säger ingenting om kvalitet, mutation gör det.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AAA — Arrange, Act, Assert. Tre tydliga sektioner. Sätt upp, kör, verifiera. Om ert test börjar få fyra block är det inte ett test längre, det är en integrationstest i förklädnad. Namngivningen är viktigare än ni tror. Tänk att ni läser en test-rapport i CI klockan halv åtta på morgonen med kaffekoppen i handen. Test_1 säger ingenting. CalculateVat_NegativeAmount_ThrowsArgumentException säger allt. Mönstret Method_Scenario_ExpectedBehavior lanserades av Roy Osherove i The Art of Unit Testing — det är inte det enda gångbara, vissa föredrar BDD-stil med "Should…When…", men det är en mycket bra default som mappar rakt mot AAA.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det enklaste tänkbara xUnit-testet. [Fact] betyder "det här är ett test utan parametrar". xUnit skapar en ny instans av testklassen för varje test — det är medvetet, för att inget state ska läcka mellan tester. Variabelnamnet sut står för "system under test" och är en bra konvention som visar exakt vad du testar i raden under. För det negativa fallet använder vi Assert.Throws som verifierar både att rätt exception-typ kastas och att raden inte bara råkade fungera av andra skäl. Lägg också märke till att vi testar både ett glatt fall och ett felfall — det är poängen med tester, glada fall hittar man ändå manuellt.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är xUnits sätt att säga "samma testlogik, många indata". Varje [InlineData] blir ett separat test i test-rapporten, så om ett edge-case går sönder ser ni exakt vilket. Det här är guld för validering, parsning, datumlogik — överallt där ni annars hade kopierat samma test fem gånger. Begränsningen är att argumenten måste vara kompileringskonstanter. Behöver ni mer komplexa objekt finns [MemberData] eller den nyare typsäkra TheoryData&lt;T1, T2, T3&gt;.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klassiska nybörjarfrågan är "men min klass anropar en databas, hur kan jag testa den?". Svaret är att du inte ska anropa databasen i ett enhetstest. Du ska anropa något som ser ut som databasen men som du har full kontroll över. Det är en mock. I .NET-världen är de tre stora Moq, NSubstitute och FakeItEasy. Vi går på NSubstitute idag — den har den renaste syntaxen och flest naturliga ord snarare än lambdor. Viktig sak att veta: mock-bibliotek i .NET fungerar bara mot interface eller virtual-medlemmar. Det är inte en bugg, det är hur .NET fungerar. Det betyder också att ni bör programmera mot interfaces — det är bra design oavsett.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en realistisk situation: en service som hämtar något, ändrar det, sparar det, och skickar ett mail. Tre saker att lägga märke till. Ett: vi mockar ICustomerRepository och IEmailSender — vi vill inte ha en riktig databas eller en riktig SMTP-server inblandad. Två: repo.GetByIdAsync(id).Returns(customer) — det är så NSubstitute uttrycker "när någon frågar efter just det här id:t, returnera det här objektet". Naturlig syntax. Tre: vi verifierar inte bara resultatet utan också beteendet — att SaveAsync anropades exakt en gång med en customer som har IsActive = false, och att mail skickades. I felfallet använder vi DidNotReceive() för att verifiera att vi inte skickar mail till okända kunder.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Bogus löser ett tråkigt problem: när ni har ett objekt med femton properties och bara två är intressanta för det specifika testet. Istället för att handskriva new Customer { ... } med fiktiva värden definierar ni en Faker&lt;T&gt; en gång och får realistisk data gratis. Det blir både mindre kod och tydligare vad som faktiskt spelar roll för testet — det är de properties ni inte använder default-värden för. Två tips: använd lokal "sv" för svenska namn och adresser, och sätt en seed om ni behöver deterministiska tester.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Samma övning igen, men i TypeScript med Jest. describe grupperar relaterade tester, test (eller it, samma sak) är själva testet. expect(x).toBe(y) är Jests variant av Assert.Equal. Lägg märke till test.each — det är Jests motsvarighet till [Theory] med [InlineData]. Det är samma idé: en testfunktion, många datauppsättningar, en rad per fall i rapporten. För TypeScript-stöd kör de flesta antingen ts-jest eller babel/swc. Är ni i ett Office-tilläggsprojekt skapat med Yeoman-generatorn så är detta redan konfigurerat åt 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Samma scenario som NSubstitute-exemplet, fast i Jest. Tre saker att notera. Ett: jest.Mocked&lt;T&gt; är ett TypeScript-trick som ger oss både typsäkerhet och tillgång till mock-API:et mockResolvedValue, toHaveBeenCalledWith osv. utan att TypeScript klagar. Två: vi sätter upp mockarna i beforeEach så att varje test får en ren slate — väldigt likt hur xUnit ger oss en ny klassinstans per test. Tre: expect.objectContaining och expect.stringContaining är "partial matchers" — vi bryr oss inte om alla fält, bara de relevanta. Det gör testen mindre spröda mot framtida ändringar.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där det börjar bli intressant. WebApplicationFactory startar hela ASP.NET Core-applikationen i minnet — riktig DI-container, riktig routing, riktig middleware-pipeline, riktig modelbinding. Det är inte en E2E-test för det är ingen browser inblandad och inget nätverk över sladd, men det är ett mycket bättre integrationstest än att försöka enhetstesta en controller direkt. Två viktiga saker. Ett: ni måste lägga raden "public partial class Program { }" längst ner i ert Program.cs — det är en konsekvens av .NET 6's minimal hosting model, för att test-projektet ska kunna referera Program-typen. Två: ConfigureTestServices är magin — där byter ni ut precis de dependencies ni vill kontrollera, ofta externa system. För databasen finns två populära strategier: in-memory provider för Entity Framework (snabb men inte 100 procent trogen) eller Testcontainers (riktig databas i Docker, mycket trogen, lite långsammare). För nya projekt rekommenderar jag Testcontainers när det går.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Learn säger ordagrant: "The Office JavaScript APIs must initialize in a webview control in the context of an Office application, so they can't load in the process in which unit tests run on your development computer." Det är problemet. Lösningen är office-addin-mock — ett bibliotek från Microsoft som ger er ett OfficeMockObject som faktiskt håller intern state om vad som load:ats och sync:ats, så att felmeddelanden härmar verkligheten. Viktig fallgrop: om ert projekt sätter testEnvironment: "jsdom" i Jest-konfigen — vanligt i task pane-projekt — så fungerar inte office-addin-mock direkt. Sätt testEnvironment: "node" per fil med en docblock-kommentar, eller separera era Office-API-tester i en egen jest-projektkonfig. Det viktigaste tipset är ändå: bryt ut så mycket affärslogik som möjligt till rena funktioner som inte rör Office-objekten alls — då slipper ni office-addin-mock i merparten av era tester.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Några erfarenhetsregler att ta med sig. Mocka aldrig er egen domänlogik — om ni mockar in ett IDiscountCalculator och bara säger "returnera 10" så testar ni egentligen ingenting alls. Mocka istället över gränsen mot omvärlden: databasen, HTTP, klockan, filsystemet, mail-tjänsten. Tester med Thread.Sleep eller setTimeout är en kodlukt — det betyder att ni testar timing och då kommer testen vara flaky. Injicera en klocka istället. Och — det här är kanske det viktigaste rådet — skriv testet som om personen som ska läsa det är trött, det är fredag eftermiddag, och produktionen brinner. Namn, struktur, en sak åt gången.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Sista slidet. Gå inte härifrån och försök testa allt på måndag. Välj en klass. Helst en med riktig logik — en validator, en beräkning, en parser. Skriv tre tester. När ni nästa vecka stöter på en bugg, skriv testet som reproducerar buggen innan ni fixar. Då har ni dels en garanti att fixen funkar, dels en garanti att buggen aldrig kommer tillbaka. För Office-tillägg specifikt — det viktigaste tipset är att bryta ut affärslogiken till rena funktioner som inte rör Office.Context alls. De funktionerna kan ni testa hur lätt som helst utan att mocka något. Spara office-addin-mock till just de pjäser som faktiskt anropar Excel- eller Word-API:erna.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de officiella källorna jag använt för att förbereda — alla har bra exempel och uppdaterade rekommendationer. Microsoft Learn-sidan om Office-tilläggstestning är den enda riktigt bra resursen för exakt vår nisch, så bokmärk den. Tack för att ni lyssnat — vilka frågor har ni?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B2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640080" y="1463040"/>
            <a:ext cx="7863840" cy="18288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Testning från noll</a:t>
            </a:r>
            <a:endParaRPr lang="en-US" sz="4000" dirty="0"/>
          </a:p>
        </p:txBody>
      </p:sp>
      <p:sp>
        <p:nvSpPr>
          <p:cNvPr id="4" name="Text 2"/>
          <p:cNvSpPr/>
          <p:nvPr/>
        </p:nvSpPr>
        <p:spPr>
          <a:xfrm>
            <a:off x="640080" y="3383280"/>
            <a:ext cx="7863840" cy="731520"/>
          </a:xfrm>
          <a:prstGeom prst="rect">
            <a:avLst/>
          </a:prstGeom>
          <a:noFill/>
          <a:ln/>
        </p:spPr>
        <p:txBody>
          <a:bodyPr wrap="square" lIns="0" tIns="0" rIns="0" bIns="0" rtlCol="0" anchor="t"/>
          <a:lstStyle/>
          <a:p>
            <a:pPr marL="0" indent="0" algn="l">
              <a:buNone/>
            </a:pPr>
            <a:r>
              <a:rPr lang="en-US" sz="1800" dirty="0">
                <a:solidFill>
                  <a:srgbClr val="02A79E"/>
                </a:solidFill>
                <a:latin typeface="Calibri" pitchFamily="34" charset="0"/>
                <a:ea typeface="Calibri" pitchFamily="34" charset="-122"/>
                <a:cs typeface="Calibri" pitchFamily="34" charset="-120"/>
              </a:rPr>
              <a:t>För .NET- och TypeScript-utvecklare  •  ~30 min</a:t>
            </a:r>
            <a:endParaRPr lang="en-US" sz="1800" dirty="0"/>
          </a:p>
        </p:txBody>
      </p:sp>
      <p:sp>
        <p:nvSpPr>
          <p:cNvPr id="6" name="Text 3"/>
          <p:cNvSpPr/>
          <p:nvPr/>
        </p:nvSpPr>
        <p:spPr>
          <a:xfrm>
            <a:off x="640080" y="4114800"/>
            <a:ext cx="7863840" cy="731520"/>
          </a:xfrm>
          <a:prstGeom prst="rect">
            <a:avLst/>
          </a:prstGeom>
          <a:noFill/>
          <a:ln/>
        </p:spPr>
        <p:txBody>
          <a:bodyPr wrap="square" lIns="0" tIns="0" rIns="0" bIns="0" rtlCol="0" anchor="ctr"/>
          <a:lstStyle/>
          <a:p>
            <a:pPr marL="0" indent="0" algn="l">
              <a:buNone/>
            </a:pPr>
            <a:r>
              <a:rPr lang="en-US" sz="1400" dirty="0">
                <a:solidFill>
                  <a:srgbClr val="6B7280"/>
                </a:solidFill>
                <a:latin typeface="Calibri" pitchFamily="34" charset="0"/>
                <a:ea typeface="Calibri" pitchFamily="34" charset="-122"/>
                <a:cs typeface="Calibri" pitchFamily="34" charset="-120"/>
              </a:rPr>
              <a:t>Enhetstester · Integrationstester · Mutation</a:t>
            </a:r>
            <a:endParaRPr lang="en-US" sz="1400" dirty="0"/>
          </a:p>
          <a:p>
            <a:pPr marL="0" indent="0" algn="l">
              <a:buNone/>
            </a:pPr>
            <a:r>
              <a:rPr lang="en-US" sz="1400" dirty="0">
                <a:solidFill>
                  <a:srgbClr val="6B7280"/>
                </a:solidFill>
                <a:latin typeface="Calibri" pitchFamily="34" charset="0"/>
                <a:ea typeface="Calibri" pitchFamily="34" charset="-122"/>
                <a:cs typeface="Calibri" pitchFamily="34" charset="-120"/>
              </a:rPr>
              <a:t>xUnit · Jest · NSubstitute · Bogus · office-addin-mock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Varför ens bry sig om tester?</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Shape 3"/>
          <p:cNvSpPr/>
          <p:nvPr/>
        </p:nvSpPr>
        <p:spPr>
          <a:xfrm>
            <a:off x="457200" y="1005840"/>
            <a:ext cx="3840480" cy="15544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sv-SE"/>
          </a:p>
        </p:txBody>
      </p:sp>
      <p:sp>
        <p:nvSpPr>
          <p:cNvPr id="7" name="Shape 4"/>
          <p:cNvSpPr/>
          <p:nvPr/>
        </p:nvSpPr>
        <p:spPr>
          <a:xfrm>
            <a:off x="457200" y="1005840"/>
            <a:ext cx="64008" cy="1554480"/>
          </a:xfrm>
          <a:prstGeom prst="rect">
            <a:avLst/>
          </a:prstGeom>
          <a:solidFill>
            <a:srgbClr val="02A79E"/>
          </a:solidFill>
          <a:ln w="12700">
            <a:solidFill>
              <a:srgbClr val="02A79E"/>
            </a:solidFill>
            <a:prstDash val="solid"/>
          </a:ln>
        </p:spPr>
        <p:txBody>
          <a:bodyPr/>
          <a:lstStyle/>
          <a:p>
            <a:endParaRPr lang="sv-SE"/>
          </a:p>
        </p:txBody>
      </p:sp>
      <p:sp>
        <p:nvSpPr>
          <p:cNvPr id="8" name="Text 5"/>
          <p:cNvSpPr/>
          <p:nvPr/>
        </p:nvSpPr>
        <p:spPr>
          <a:xfrm>
            <a:off x="640080" y="1115568"/>
            <a:ext cx="3566160" cy="365760"/>
          </a:xfrm>
          <a:prstGeom prst="rect">
            <a:avLst/>
          </a:prstGeom>
          <a:noFill/>
          <a:ln/>
        </p:spPr>
        <p:txBody>
          <a:bodyPr wrap="square" lIns="0" tIns="0" rIns="0" bIns="0" rtlCol="0" anchor="ctr"/>
          <a:lstStyle/>
          <a:p>
            <a:pPr marL="0" indent="0">
              <a:buNone/>
            </a:pPr>
            <a:r>
              <a:rPr lang="en-US" sz="1400" b="1" dirty="0">
                <a:solidFill>
                  <a:srgbClr val="232B2B"/>
                </a:solidFill>
                <a:latin typeface="Calibri" pitchFamily="34" charset="0"/>
                <a:ea typeface="Calibri" pitchFamily="34" charset="-122"/>
                <a:cs typeface="Calibri" pitchFamily="34" charset="-120"/>
              </a:rPr>
              <a:t>Snabb återkoppling</a:t>
            </a:r>
            <a:endParaRPr lang="en-US" sz="1400" dirty="0"/>
          </a:p>
        </p:txBody>
      </p:sp>
      <p:sp>
        <p:nvSpPr>
          <p:cNvPr id="9" name="Text 6"/>
          <p:cNvSpPr/>
          <p:nvPr/>
        </p:nvSpPr>
        <p:spPr>
          <a:xfrm>
            <a:off x="640080" y="1508760"/>
            <a:ext cx="3566160" cy="9601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Millisekunder istället för att starta om Excel och klicka sig fram</a:t>
            </a:r>
            <a:endParaRPr lang="en-US" sz="1200" dirty="0"/>
          </a:p>
        </p:txBody>
      </p:sp>
      <p:sp>
        <p:nvSpPr>
          <p:cNvPr id="10" name="Shape 7"/>
          <p:cNvSpPr/>
          <p:nvPr/>
        </p:nvSpPr>
        <p:spPr>
          <a:xfrm>
            <a:off x="4846320" y="1005840"/>
            <a:ext cx="3840480" cy="15544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sv-SE"/>
          </a:p>
        </p:txBody>
      </p:sp>
      <p:sp>
        <p:nvSpPr>
          <p:cNvPr id="11" name="Shape 8"/>
          <p:cNvSpPr/>
          <p:nvPr/>
        </p:nvSpPr>
        <p:spPr>
          <a:xfrm>
            <a:off x="4846320" y="1005840"/>
            <a:ext cx="64008" cy="1554480"/>
          </a:xfrm>
          <a:prstGeom prst="rect">
            <a:avLst/>
          </a:prstGeom>
          <a:solidFill>
            <a:srgbClr val="028090"/>
          </a:solidFill>
          <a:ln w="12700">
            <a:solidFill>
              <a:srgbClr val="028090"/>
            </a:solidFill>
            <a:prstDash val="solid"/>
          </a:ln>
        </p:spPr>
        <p:txBody>
          <a:bodyPr/>
          <a:lstStyle/>
          <a:p>
            <a:endParaRPr lang="sv-SE"/>
          </a:p>
        </p:txBody>
      </p:sp>
      <p:sp>
        <p:nvSpPr>
          <p:cNvPr id="12" name="Text 9"/>
          <p:cNvSpPr/>
          <p:nvPr/>
        </p:nvSpPr>
        <p:spPr>
          <a:xfrm>
            <a:off x="5029200" y="1115568"/>
            <a:ext cx="3566160" cy="365760"/>
          </a:xfrm>
          <a:prstGeom prst="rect">
            <a:avLst/>
          </a:prstGeom>
          <a:noFill/>
          <a:ln/>
        </p:spPr>
        <p:txBody>
          <a:bodyPr wrap="square" lIns="0" tIns="0" rIns="0" bIns="0" rtlCol="0" anchor="ctr"/>
          <a:lstStyle/>
          <a:p>
            <a:pPr marL="0" indent="0">
              <a:buNone/>
            </a:pPr>
            <a:r>
              <a:rPr lang="en-US" sz="1400" b="1" dirty="0">
                <a:solidFill>
                  <a:srgbClr val="232B2B"/>
                </a:solidFill>
                <a:latin typeface="Calibri" pitchFamily="34" charset="0"/>
                <a:ea typeface="Calibri" pitchFamily="34" charset="-122"/>
                <a:cs typeface="Calibri" pitchFamily="34" charset="-120"/>
              </a:rPr>
              <a:t>Trygghet vid refaktorering</a:t>
            </a:r>
            <a:endParaRPr lang="en-US" sz="1400" dirty="0"/>
          </a:p>
        </p:txBody>
      </p:sp>
      <p:sp>
        <p:nvSpPr>
          <p:cNvPr id="13" name="Text 10"/>
          <p:cNvSpPr/>
          <p:nvPr/>
        </p:nvSpPr>
        <p:spPr>
          <a:xfrm>
            <a:off x="5029200" y="1508760"/>
            <a:ext cx="3566160" cy="9601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Ändra koden utan att vara rädd för att ha sönder något</a:t>
            </a:r>
            <a:endParaRPr lang="en-US" sz="1200" dirty="0"/>
          </a:p>
        </p:txBody>
      </p:sp>
      <p:sp>
        <p:nvSpPr>
          <p:cNvPr id="14" name="Shape 11"/>
          <p:cNvSpPr/>
          <p:nvPr/>
        </p:nvSpPr>
        <p:spPr>
          <a:xfrm>
            <a:off x="457200" y="2788920"/>
            <a:ext cx="3840480" cy="15544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sv-SE"/>
          </a:p>
        </p:txBody>
      </p:sp>
      <p:sp>
        <p:nvSpPr>
          <p:cNvPr id="15" name="Shape 12"/>
          <p:cNvSpPr/>
          <p:nvPr/>
        </p:nvSpPr>
        <p:spPr>
          <a:xfrm>
            <a:off x="457200" y="2788920"/>
            <a:ext cx="64008" cy="1554480"/>
          </a:xfrm>
          <a:prstGeom prst="rect">
            <a:avLst/>
          </a:prstGeom>
          <a:solidFill>
            <a:srgbClr val="3D9B8A"/>
          </a:solidFill>
          <a:ln w="12700">
            <a:solidFill>
              <a:srgbClr val="3D9B8A"/>
            </a:solidFill>
            <a:prstDash val="solid"/>
          </a:ln>
        </p:spPr>
        <p:txBody>
          <a:bodyPr/>
          <a:lstStyle/>
          <a:p>
            <a:endParaRPr lang="sv-SE"/>
          </a:p>
        </p:txBody>
      </p:sp>
      <p:sp>
        <p:nvSpPr>
          <p:cNvPr id="16" name="Text 13"/>
          <p:cNvSpPr/>
          <p:nvPr/>
        </p:nvSpPr>
        <p:spPr>
          <a:xfrm>
            <a:off x="640080" y="2898648"/>
            <a:ext cx="3566160" cy="365760"/>
          </a:xfrm>
          <a:prstGeom prst="rect">
            <a:avLst/>
          </a:prstGeom>
          <a:noFill/>
          <a:ln/>
        </p:spPr>
        <p:txBody>
          <a:bodyPr wrap="square" lIns="0" tIns="0" rIns="0" bIns="0" rtlCol="0" anchor="ctr"/>
          <a:lstStyle/>
          <a:p>
            <a:pPr marL="0" indent="0">
              <a:buNone/>
            </a:pPr>
            <a:r>
              <a:rPr lang="en-US" sz="1400" b="1" dirty="0">
                <a:solidFill>
                  <a:srgbClr val="232B2B"/>
                </a:solidFill>
                <a:latin typeface="Calibri" pitchFamily="34" charset="0"/>
                <a:ea typeface="Calibri" pitchFamily="34" charset="-122"/>
                <a:cs typeface="Calibri" pitchFamily="34" charset="-120"/>
              </a:rPr>
              <a:t>Levande dokumentation</a:t>
            </a:r>
            <a:endParaRPr lang="en-US" sz="1400" dirty="0"/>
          </a:p>
        </p:txBody>
      </p:sp>
      <p:sp>
        <p:nvSpPr>
          <p:cNvPr id="17" name="Text 14"/>
          <p:cNvSpPr/>
          <p:nvPr/>
        </p:nvSpPr>
        <p:spPr>
          <a:xfrm>
            <a:off x="640080" y="3291840"/>
            <a:ext cx="3566160" cy="9601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Tester visar hur koden ska bete sig — till skillnad från kommentarer</a:t>
            </a:r>
            <a:endParaRPr lang="en-US" sz="1200" dirty="0"/>
          </a:p>
        </p:txBody>
      </p:sp>
      <p:sp>
        <p:nvSpPr>
          <p:cNvPr id="18" name="Shape 15"/>
          <p:cNvSpPr/>
          <p:nvPr/>
        </p:nvSpPr>
        <p:spPr>
          <a:xfrm>
            <a:off x="4846320" y="2788920"/>
            <a:ext cx="3840480" cy="15544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sv-SE"/>
          </a:p>
        </p:txBody>
      </p:sp>
      <p:sp>
        <p:nvSpPr>
          <p:cNvPr id="19" name="Shape 16"/>
          <p:cNvSpPr/>
          <p:nvPr/>
        </p:nvSpPr>
        <p:spPr>
          <a:xfrm>
            <a:off x="4846320" y="2788920"/>
            <a:ext cx="64008" cy="1554480"/>
          </a:xfrm>
          <a:prstGeom prst="rect">
            <a:avLst/>
          </a:prstGeom>
          <a:solidFill>
            <a:srgbClr val="02857E"/>
          </a:solidFill>
          <a:ln w="12700">
            <a:solidFill>
              <a:srgbClr val="02857E"/>
            </a:solidFill>
            <a:prstDash val="solid"/>
          </a:ln>
        </p:spPr>
        <p:txBody>
          <a:bodyPr/>
          <a:lstStyle/>
          <a:p>
            <a:endParaRPr lang="sv-SE"/>
          </a:p>
        </p:txBody>
      </p:sp>
      <p:sp>
        <p:nvSpPr>
          <p:cNvPr id="20" name="Text 17"/>
          <p:cNvSpPr/>
          <p:nvPr/>
        </p:nvSpPr>
        <p:spPr>
          <a:xfrm>
            <a:off x="5029200" y="2898648"/>
            <a:ext cx="3566160" cy="365760"/>
          </a:xfrm>
          <a:prstGeom prst="rect">
            <a:avLst/>
          </a:prstGeom>
          <a:noFill/>
          <a:ln/>
        </p:spPr>
        <p:txBody>
          <a:bodyPr wrap="square" lIns="0" tIns="0" rIns="0" bIns="0" rtlCol="0" anchor="ctr"/>
          <a:lstStyle/>
          <a:p>
            <a:pPr marL="0" indent="0">
              <a:buNone/>
            </a:pPr>
            <a:r>
              <a:rPr lang="en-US" sz="1400" b="1" dirty="0">
                <a:solidFill>
                  <a:srgbClr val="232B2B"/>
                </a:solidFill>
                <a:latin typeface="Calibri" pitchFamily="34" charset="0"/>
                <a:ea typeface="Calibri" pitchFamily="34" charset="-122"/>
                <a:cs typeface="Calibri" pitchFamily="34" charset="-120"/>
              </a:rPr>
              <a:t>Mindre tid i debuggern</a:t>
            </a:r>
            <a:endParaRPr lang="en-US" sz="1400" dirty="0"/>
          </a:p>
        </p:txBody>
      </p:sp>
      <p:sp>
        <p:nvSpPr>
          <p:cNvPr id="21" name="Text 18"/>
          <p:cNvSpPr/>
          <p:nvPr/>
        </p:nvSpPr>
        <p:spPr>
          <a:xfrm>
            <a:off x="5029200" y="3291840"/>
            <a:ext cx="3566160" cy="9601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Mer tid på faktisk feature-utveckling</a:t>
            </a:r>
            <a:endParaRPr lang="en-US" sz="1200" dirty="0"/>
          </a:p>
        </p:txBody>
      </p:sp>
      <p:sp>
        <p:nvSpPr>
          <p:cNvPr id="22" name="Text 19"/>
          <p:cNvSpPr/>
          <p:nvPr/>
        </p:nvSpPr>
        <p:spPr>
          <a:xfrm>
            <a:off x="457200" y="4251960"/>
            <a:ext cx="8229600" cy="548640"/>
          </a:xfrm>
          <a:prstGeom prst="rect">
            <a:avLst/>
          </a:prstGeom>
          <a:noFill/>
          <a:ln/>
        </p:spPr>
        <p:txBody>
          <a:bodyPr wrap="square" lIns="0" tIns="0" rIns="0" bIns="0" rtlCol="0" anchor="ctr"/>
          <a:lstStyle/>
          <a:p>
            <a:pPr marL="0" indent="0" algn="ctr">
              <a:buNone/>
            </a:pPr>
            <a:r>
              <a:rPr lang="en-US" sz="1300" i="1" dirty="0">
                <a:solidFill>
                  <a:srgbClr val="02A79E"/>
                </a:solidFill>
                <a:latin typeface="Calibri" pitchFamily="34" charset="0"/>
                <a:ea typeface="Calibri" pitchFamily="34" charset="-122"/>
                <a:cs typeface="Calibri" pitchFamily="34" charset="-120"/>
              </a:rPr>
              <a:t>Speciellt för Office-tillägg: F5-loopen är långsam — tester sparar timmar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Testpyramiden</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Shape 3"/>
          <p:cNvSpPr/>
          <p:nvPr/>
        </p:nvSpPr>
        <p:spPr>
          <a:xfrm>
            <a:off x="3200400" y="960120"/>
            <a:ext cx="2743200" cy="685800"/>
          </a:xfrm>
          <a:prstGeom prst="rect">
            <a:avLst/>
          </a:prstGeom>
          <a:solidFill>
            <a:srgbClr val="3D9B8A"/>
          </a:solidFill>
          <a:ln w="12700">
            <a:solidFill>
              <a:srgbClr val="3D9B8A"/>
            </a:solidFill>
            <a:prstDash val="solid"/>
          </a:ln>
        </p:spPr>
        <p:txBody>
          <a:bodyPr/>
          <a:lstStyle/>
          <a:p>
            <a:endParaRPr lang="sv-SE"/>
          </a:p>
        </p:txBody>
      </p:sp>
      <p:sp>
        <p:nvSpPr>
          <p:cNvPr id="7" name="Text 4"/>
          <p:cNvSpPr/>
          <p:nvPr/>
        </p:nvSpPr>
        <p:spPr>
          <a:xfrm>
            <a:off x="3200400" y="960120"/>
            <a:ext cx="274320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E2E  ~10%</a:t>
            </a:r>
            <a:endParaRPr lang="en-US" sz="1400" dirty="0"/>
          </a:p>
          <a:p>
            <a:pPr marL="0" indent="0" algn="ctr">
              <a:buNone/>
            </a:pPr>
            <a:r>
              <a:rPr lang="en-US" sz="1000" dirty="0">
                <a:solidFill>
                  <a:srgbClr val="FFFFFF"/>
                </a:solidFill>
                <a:latin typeface="Calibri" pitchFamily="34" charset="0"/>
                <a:ea typeface="Calibri" pitchFamily="34" charset="-122"/>
                <a:cs typeface="Calibri" pitchFamily="34" charset="-120"/>
              </a:rPr>
              <a:t>Playwright · Cypress</a:t>
            </a:r>
            <a:endParaRPr lang="en-US" sz="1400" dirty="0"/>
          </a:p>
        </p:txBody>
      </p:sp>
      <p:sp>
        <p:nvSpPr>
          <p:cNvPr id="8" name="Shape 5"/>
          <p:cNvSpPr/>
          <p:nvPr/>
        </p:nvSpPr>
        <p:spPr>
          <a:xfrm>
            <a:off x="2057400" y="1783080"/>
            <a:ext cx="5029200" cy="685800"/>
          </a:xfrm>
          <a:prstGeom prst="rect">
            <a:avLst/>
          </a:prstGeom>
          <a:solidFill>
            <a:srgbClr val="02A79E"/>
          </a:solidFill>
          <a:ln w="12700">
            <a:solidFill>
              <a:srgbClr val="02A79E"/>
            </a:solidFill>
            <a:prstDash val="solid"/>
          </a:ln>
        </p:spPr>
        <p:txBody>
          <a:bodyPr/>
          <a:lstStyle/>
          <a:p>
            <a:endParaRPr lang="sv-SE"/>
          </a:p>
        </p:txBody>
      </p:sp>
      <p:sp>
        <p:nvSpPr>
          <p:cNvPr id="9" name="Text 6"/>
          <p:cNvSpPr/>
          <p:nvPr/>
        </p:nvSpPr>
        <p:spPr>
          <a:xfrm>
            <a:off x="2057400" y="1783080"/>
            <a:ext cx="502920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Integration  ~20%</a:t>
            </a:r>
            <a:endParaRPr lang="en-US" sz="1400" dirty="0"/>
          </a:p>
          <a:p>
            <a:pPr marL="0" indent="0" algn="ctr">
              <a:buNone/>
            </a:pPr>
            <a:r>
              <a:rPr lang="en-US" sz="1000" dirty="0">
                <a:solidFill>
                  <a:srgbClr val="FFFFFF"/>
                </a:solidFill>
                <a:latin typeface="Calibri" pitchFamily="34" charset="0"/>
                <a:ea typeface="Calibri" pitchFamily="34" charset="-122"/>
                <a:cs typeface="Calibri" pitchFamily="34" charset="-120"/>
              </a:rPr>
              <a:t>WebApplicationFactory · Supertest</a:t>
            </a:r>
            <a:endParaRPr lang="en-US" sz="1400" dirty="0"/>
          </a:p>
        </p:txBody>
      </p:sp>
      <p:sp>
        <p:nvSpPr>
          <p:cNvPr id="10" name="Shape 7"/>
          <p:cNvSpPr/>
          <p:nvPr/>
        </p:nvSpPr>
        <p:spPr>
          <a:xfrm>
            <a:off x="685800" y="2606040"/>
            <a:ext cx="7772400" cy="685800"/>
          </a:xfrm>
          <a:prstGeom prst="rect">
            <a:avLst/>
          </a:prstGeom>
          <a:solidFill>
            <a:srgbClr val="02857E"/>
          </a:solidFill>
          <a:ln w="12700">
            <a:solidFill>
              <a:srgbClr val="02857E"/>
            </a:solidFill>
            <a:prstDash val="solid"/>
          </a:ln>
        </p:spPr>
        <p:txBody>
          <a:bodyPr/>
          <a:lstStyle/>
          <a:p>
            <a:endParaRPr lang="sv-SE"/>
          </a:p>
        </p:txBody>
      </p:sp>
      <p:sp>
        <p:nvSpPr>
          <p:cNvPr id="11" name="Text 8"/>
          <p:cNvSpPr/>
          <p:nvPr/>
        </p:nvSpPr>
        <p:spPr>
          <a:xfrm>
            <a:off x="685800" y="2606040"/>
            <a:ext cx="777240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Unit Tests  ~70%</a:t>
            </a:r>
            <a:endParaRPr lang="en-US" sz="1400" dirty="0"/>
          </a:p>
          <a:p>
            <a:pPr marL="0" indent="0" algn="ctr">
              <a:buNone/>
            </a:pPr>
            <a:r>
              <a:rPr lang="en-US" sz="1000" dirty="0">
                <a:solidFill>
                  <a:srgbClr val="FFFFFF"/>
                </a:solidFill>
                <a:latin typeface="Calibri" pitchFamily="34" charset="0"/>
                <a:ea typeface="Calibri" pitchFamily="34" charset="-122"/>
                <a:cs typeface="Calibri" pitchFamily="34" charset="-120"/>
              </a:rPr>
              <a:t>xUnit · Jest</a:t>
            </a:r>
            <a:endParaRPr lang="en-US" sz="1400" dirty="0"/>
          </a:p>
        </p:txBody>
      </p:sp>
      <p:sp>
        <p:nvSpPr>
          <p:cNvPr id="12" name="Text 9"/>
          <p:cNvSpPr/>
          <p:nvPr/>
        </p:nvSpPr>
        <p:spPr>
          <a:xfrm>
            <a:off x="457200" y="4251960"/>
            <a:ext cx="8229600" cy="50292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Inverterad pyramid = långsam CI, instabila byggen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Vilken testtyp gör vad?</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429000"/>
        </p:xfrm>
        <a:graphic>
          <a:graphicData uri="http://schemas.openxmlformats.org/drawingml/2006/table">
            <a:tbl>
              <a:tblPr/>
              <a:tblGrid>
                <a:gridCol w="12801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68580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Typ</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E3B3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Testar</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E3B3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Hastighet</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E3B3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Verktyg</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E3B3B"/>
                    </a:solidFill>
                  </a:tcPr>
                </a:tc>
                <a:extLst>
                  <a:ext uri="{0D108BD9-81ED-4DB2-BD59-A6C34878D82A}">
                    <a16:rowId xmlns:a16="http://schemas.microsoft.com/office/drawing/2014/main" val="10000"/>
                  </a:ext>
                </a:extLst>
              </a:tr>
              <a:tr h="685800">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Unit</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En funktion, dependencies mockas</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ms</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xUnit · Jest</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Integration</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9F8"/>
                    </a:solidFill>
                  </a:tcPr>
                </a:tc>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Flera komponenter + DB/HTTP</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9F8"/>
                    </a:solidFill>
                  </a:tcPr>
                </a:tc>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sek</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9F8"/>
                    </a:solidFill>
                  </a:tcPr>
                </a:tc>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WebApplicationFactory · Supertest</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9F8"/>
                    </a:solidFill>
                  </a:tcPr>
                </a:tc>
                <a:extLst>
                  <a:ext uri="{0D108BD9-81ED-4DB2-BD59-A6C34878D82A}">
                    <a16:rowId xmlns:a16="http://schemas.microsoft.com/office/drawing/2014/main" val="10002"/>
                  </a:ext>
                </a:extLst>
              </a:tr>
              <a:tr h="685800">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E2E</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Hela systemet från användarperspektiv</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sek–min</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Playwright · Cypress</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Mutation</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9F8"/>
                    </a:solidFill>
                  </a:tcPr>
                </a:tc>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Hur bra dina tester är</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9F8"/>
                    </a:solidFill>
                  </a:tcPr>
                </a:tc>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min–tim</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9F8"/>
                    </a:solidFill>
                  </a:tcPr>
                </a:tc>
                <a:tc>
                  <a:txBody>
                    <a:bodyPr/>
                    <a:lstStyle/>
                    <a:p>
                      <a:pPr marL="0" indent="0" algn="l">
                        <a:buNone/>
                      </a:pPr>
                      <a:r>
                        <a:rPr lang="en-US" sz="1300" dirty="0">
                          <a:solidFill>
                            <a:srgbClr val="1A1A1A"/>
                          </a:solidFill>
                          <a:latin typeface="Calibri" pitchFamily="34" charset="0"/>
                          <a:ea typeface="Calibri" pitchFamily="34" charset="-122"/>
                          <a:cs typeface="Calibri" pitchFamily="34" charset="-120"/>
                        </a:rPr>
                        <a:t>Stryker.NET · StrykerJS</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9F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AAA-mönstret &amp; namngivning</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Shape 3"/>
          <p:cNvSpPr/>
          <p:nvPr/>
        </p:nvSpPr>
        <p:spPr>
          <a:xfrm>
            <a:off x="457200" y="1005840"/>
            <a:ext cx="2651760" cy="1371600"/>
          </a:xfrm>
          <a:prstGeom prst="rect">
            <a:avLst/>
          </a:prstGeom>
          <a:solidFill>
            <a:srgbClr val="02857E"/>
          </a:solidFill>
          <a:ln w="12700">
            <a:solidFill>
              <a:srgbClr val="02857E"/>
            </a:solidFill>
            <a:prstDash val="solid"/>
          </a:ln>
          <a:effectLst>
            <a:outerShdw blurRad="101600" dist="38100" dir="8100000" algn="bl" rotWithShape="0">
              <a:srgbClr val="000000">
                <a:alpha val="12000"/>
              </a:srgbClr>
            </a:outerShdw>
          </a:effectLst>
        </p:spPr>
        <p:txBody>
          <a:bodyPr/>
          <a:lstStyle/>
          <a:p>
            <a:endParaRPr lang="sv-SE"/>
          </a:p>
        </p:txBody>
      </p:sp>
      <p:sp>
        <p:nvSpPr>
          <p:cNvPr id="7" name="Text 4"/>
          <p:cNvSpPr/>
          <p:nvPr/>
        </p:nvSpPr>
        <p:spPr>
          <a:xfrm>
            <a:off x="457200" y="1051560"/>
            <a:ext cx="265176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Arrange</a:t>
            </a:r>
            <a:endParaRPr lang="en-US" sz="2200" dirty="0"/>
          </a:p>
        </p:txBody>
      </p:sp>
      <p:sp>
        <p:nvSpPr>
          <p:cNvPr id="8" name="Text 5"/>
          <p:cNvSpPr/>
          <p:nvPr/>
        </p:nvSpPr>
        <p:spPr>
          <a:xfrm>
            <a:off x="457200" y="1600200"/>
            <a:ext cx="2651760" cy="685800"/>
          </a:xfrm>
          <a:prstGeom prst="rect">
            <a:avLst/>
          </a:prstGeom>
          <a:noFill/>
          <a:ln/>
        </p:spPr>
        <p:txBody>
          <a:bodyPr wrap="square" lIns="0" tIns="0" rIns="0" bIns="0" rtlCol="0" anchor="t"/>
          <a:lstStyle/>
          <a:p>
            <a:pPr marL="0" indent="0" algn="ctr">
              <a:buNone/>
            </a:pPr>
            <a:r>
              <a:rPr lang="en-US" sz="1300" dirty="0">
                <a:solidFill>
                  <a:srgbClr val="DDFAF8"/>
                </a:solidFill>
                <a:latin typeface="Calibri" pitchFamily="34" charset="0"/>
                <a:ea typeface="Calibri" pitchFamily="34" charset="-122"/>
                <a:cs typeface="Calibri" pitchFamily="34" charset="-120"/>
              </a:rPr>
              <a:t>Sätt upp data och beroenden</a:t>
            </a:r>
            <a:endParaRPr lang="en-US" sz="1300" dirty="0"/>
          </a:p>
        </p:txBody>
      </p:sp>
      <p:sp>
        <p:nvSpPr>
          <p:cNvPr id="9" name="Text 6"/>
          <p:cNvSpPr/>
          <p:nvPr/>
        </p:nvSpPr>
        <p:spPr>
          <a:xfrm>
            <a:off x="3127248" y="1371600"/>
            <a:ext cx="228600" cy="457200"/>
          </a:xfrm>
          <a:prstGeom prst="rect">
            <a:avLst/>
          </a:prstGeom>
          <a:noFill/>
          <a:ln/>
        </p:spPr>
        <p:txBody>
          <a:bodyPr wrap="square" lIns="0" tIns="0" rIns="0" bIns="0" rtlCol="0" anchor="ctr"/>
          <a:lstStyle/>
          <a:p>
            <a:pPr marL="0" indent="0" algn="ctr">
              <a:buNone/>
            </a:pPr>
            <a:r>
              <a:rPr lang="en-US" sz="2000" dirty="0">
                <a:solidFill>
                  <a:srgbClr val="02A79E"/>
                </a:solidFill>
              </a:rPr>
              <a:t>→</a:t>
            </a:r>
            <a:endParaRPr lang="en-US" sz="2000" dirty="0"/>
          </a:p>
        </p:txBody>
      </p:sp>
      <p:sp>
        <p:nvSpPr>
          <p:cNvPr id="10" name="Shape 7"/>
          <p:cNvSpPr/>
          <p:nvPr/>
        </p:nvSpPr>
        <p:spPr>
          <a:xfrm>
            <a:off x="3337560" y="1005840"/>
            <a:ext cx="2651760" cy="1371600"/>
          </a:xfrm>
          <a:prstGeom prst="rect">
            <a:avLst/>
          </a:prstGeom>
          <a:solidFill>
            <a:srgbClr val="02A79E"/>
          </a:solidFill>
          <a:ln w="12700">
            <a:solidFill>
              <a:srgbClr val="02A79E"/>
            </a:solidFill>
            <a:prstDash val="solid"/>
          </a:ln>
          <a:effectLst>
            <a:outerShdw blurRad="101600" dist="38100" dir="8100000" algn="bl" rotWithShape="0">
              <a:srgbClr val="000000">
                <a:alpha val="12000"/>
              </a:srgbClr>
            </a:outerShdw>
          </a:effectLst>
        </p:spPr>
        <p:txBody>
          <a:bodyPr/>
          <a:lstStyle/>
          <a:p>
            <a:endParaRPr lang="sv-SE"/>
          </a:p>
        </p:txBody>
      </p:sp>
      <p:sp>
        <p:nvSpPr>
          <p:cNvPr id="11" name="Text 8"/>
          <p:cNvSpPr/>
          <p:nvPr/>
        </p:nvSpPr>
        <p:spPr>
          <a:xfrm>
            <a:off x="3337560" y="1051560"/>
            <a:ext cx="265176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Act</a:t>
            </a:r>
            <a:endParaRPr lang="en-US" sz="2200" dirty="0"/>
          </a:p>
        </p:txBody>
      </p:sp>
      <p:sp>
        <p:nvSpPr>
          <p:cNvPr id="12" name="Text 9"/>
          <p:cNvSpPr/>
          <p:nvPr/>
        </p:nvSpPr>
        <p:spPr>
          <a:xfrm>
            <a:off x="3337560" y="1600200"/>
            <a:ext cx="2651760" cy="685800"/>
          </a:xfrm>
          <a:prstGeom prst="rect">
            <a:avLst/>
          </a:prstGeom>
          <a:noFill/>
          <a:ln/>
        </p:spPr>
        <p:txBody>
          <a:bodyPr wrap="square" lIns="0" tIns="0" rIns="0" bIns="0" rtlCol="0" anchor="t"/>
          <a:lstStyle/>
          <a:p>
            <a:pPr marL="0" indent="0" algn="ctr">
              <a:buNone/>
            </a:pPr>
            <a:r>
              <a:rPr lang="en-US" sz="1300" dirty="0">
                <a:solidFill>
                  <a:srgbClr val="DDFAF8"/>
                </a:solidFill>
                <a:latin typeface="Calibri" pitchFamily="34" charset="0"/>
                <a:ea typeface="Calibri" pitchFamily="34" charset="-122"/>
                <a:cs typeface="Calibri" pitchFamily="34" charset="-120"/>
              </a:rPr>
              <a:t>Kör den ena sak du testar</a:t>
            </a:r>
            <a:endParaRPr lang="en-US" sz="1300" dirty="0"/>
          </a:p>
        </p:txBody>
      </p:sp>
      <p:sp>
        <p:nvSpPr>
          <p:cNvPr id="13" name="Text 10"/>
          <p:cNvSpPr/>
          <p:nvPr/>
        </p:nvSpPr>
        <p:spPr>
          <a:xfrm>
            <a:off x="6007608" y="1371600"/>
            <a:ext cx="228600" cy="457200"/>
          </a:xfrm>
          <a:prstGeom prst="rect">
            <a:avLst/>
          </a:prstGeom>
          <a:noFill/>
          <a:ln/>
        </p:spPr>
        <p:txBody>
          <a:bodyPr wrap="square" lIns="0" tIns="0" rIns="0" bIns="0" rtlCol="0" anchor="ctr"/>
          <a:lstStyle/>
          <a:p>
            <a:pPr marL="0" indent="0" algn="ctr">
              <a:buNone/>
            </a:pPr>
            <a:r>
              <a:rPr lang="en-US" sz="2000" dirty="0">
                <a:solidFill>
                  <a:srgbClr val="02A79E"/>
                </a:solidFill>
              </a:rPr>
              <a:t>→</a:t>
            </a:r>
            <a:endParaRPr lang="en-US" sz="2000" dirty="0"/>
          </a:p>
        </p:txBody>
      </p:sp>
      <p:sp>
        <p:nvSpPr>
          <p:cNvPr id="14" name="Shape 11"/>
          <p:cNvSpPr/>
          <p:nvPr/>
        </p:nvSpPr>
        <p:spPr>
          <a:xfrm>
            <a:off x="6217920" y="1005840"/>
            <a:ext cx="2651760" cy="1371600"/>
          </a:xfrm>
          <a:prstGeom prst="rect">
            <a:avLst/>
          </a:prstGeom>
          <a:solidFill>
            <a:srgbClr val="3D9B8A"/>
          </a:solidFill>
          <a:ln w="12700">
            <a:solidFill>
              <a:srgbClr val="3D9B8A"/>
            </a:solidFill>
            <a:prstDash val="solid"/>
          </a:ln>
          <a:effectLst>
            <a:outerShdw blurRad="101600" dist="38100" dir="8100000" algn="bl" rotWithShape="0">
              <a:srgbClr val="000000">
                <a:alpha val="12000"/>
              </a:srgbClr>
            </a:outerShdw>
          </a:effectLst>
        </p:spPr>
        <p:txBody>
          <a:bodyPr/>
          <a:lstStyle/>
          <a:p>
            <a:endParaRPr lang="sv-SE"/>
          </a:p>
        </p:txBody>
      </p:sp>
      <p:sp>
        <p:nvSpPr>
          <p:cNvPr id="15" name="Text 12"/>
          <p:cNvSpPr/>
          <p:nvPr/>
        </p:nvSpPr>
        <p:spPr>
          <a:xfrm>
            <a:off x="6217920" y="1051560"/>
            <a:ext cx="265176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Assert</a:t>
            </a:r>
            <a:endParaRPr lang="en-US" sz="2200" dirty="0"/>
          </a:p>
        </p:txBody>
      </p:sp>
      <p:sp>
        <p:nvSpPr>
          <p:cNvPr id="16" name="Text 13"/>
          <p:cNvSpPr/>
          <p:nvPr/>
        </p:nvSpPr>
        <p:spPr>
          <a:xfrm>
            <a:off x="6217920" y="1600200"/>
            <a:ext cx="2651760" cy="685800"/>
          </a:xfrm>
          <a:prstGeom prst="rect">
            <a:avLst/>
          </a:prstGeom>
          <a:noFill/>
          <a:ln/>
        </p:spPr>
        <p:txBody>
          <a:bodyPr wrap="square" lIns="0" tIns="0" rIns="0" bIns="0" rtlCol="0" anchor="t"/>
          <a:lstStyle/>
          <a:p>
            <a:pPr marL="0" indent="0" algn="ctr">
              <a:buNone/>
            </a:pPr>
            <a:r>
              <a:rPr lang="en-US" sz="1300" dirty="0">
                <a:solidFill>
                  <a:srgbClr val="DDFAF8"/>
                </a:solidFill>
                <a:latin typeface="Calibri" pitchFamily="34" charset="0"/>
                <a:ea typeface="Calibri" pitchFamily="34" charset="-122"/>
                <a:cs typeface="Calibri" pitchFamily="34" charset="-120"/>
              </a:rPr>
              <a:t>Verifiera EN sak</a:t>
            </a:r>
            <a:endParaRPr lang="en-US" sz="1300" dirty="0"/>
          </a:p>
        </p:txBody>
      </p:sp>
      <p:sp>
        <p:nvSpPr>
          <p:cNvPr id="17" name="Text 14"/>
          <p:cNvSpPr/>
          <p:nvPr/>
        </p:nvSpPr>
        <p:spPr>
          <a:xfrm>
            <a:off x="457200" y="2560320"/>
            <a:ext cx="8229600" cy="457200"/>
          </a:xfrm>
          <a:prstGeom prst="rect">
            <a:avLst/>
          </a:prstGeom>
          <a:noFill/>
          <a:ln/>
        </p:spPr>
        <p:txBody>
          <a:bodyPr wrap="square" lIns="0" tIns="0" rIns="0" bIns="0" rtlCol="0" anchor="ctr"/>
          <a:lstStyle/>
          <a:p>
            <a:pPr marL="0" indent="0" algn="ctr">
              <a:buNone/>
            </a:pPr>
            <a:r>
              <a:rPr lang="en-US" sz="1600" b="1" dirty="0">
                <a:solidFill>
                  <a:srgbClr val="02A79E"/>
                </a:solidFill>
                <a:latin typeface="Consolas" pitchFamily="34" charset="0"/>
                <a:ea typeface="Consolas" pitchFamily="34" charset="-122"/>
                <a:cs typeface="Consolas" pitchFamily="34" charset="-120"/>
              </a:rPr>
              <a:t>Namngivning: Method_Scenario_ExpectedBehavior</a:t>
            </a:r>
            <a:endParaRPr lang="en-US" sz="1600" dirty="0"/>
          </a:p>
        </p:txBody>
      </p:sp>
      <p:sp>
        <p:nvSpPr>
          <p:cNvPr id="18" name="Text 15"/>
          <p:cNvSpPr/>
          <p:nvPr/>
        </p:nvSpPr>
        <p:spPr>
          <a:xfrm>
            <a:off x="548640" y="3108960"/>
            <a:ext cx="8046720" cy="36576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Test_1  (BAD)  —  CalculateVat_NegativeAmount_ThrowsArgumentException  (GOOD)</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Ett test = en anledning att misslyckas</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Skriv testet som om du är trött och det är fredag eftermiddag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Första enhetstestet i C# med xUnit</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Shape 3"/>
          <p:cNvSpPr/>
          <p:nvPr/>
        </p:nvSpPr>
        <p:spPr>
          <a:xfrm>
            <a:off x="457200" y="960120"/>
            <a:ext cx="8229600" cy="3749040"/>
          </a:xfrm>
          <a:prstGeom prst="rect">
            <a:avLst/>
          </a:prstGeom>
          <a:solidFill>
            <a:srgbClr val="1E2D2D"/>
          </a:solidFill>
          <a:ln w="12700">
            <a:solidFill>
              <a:srgbClr val="1E2D2D"/>
            </a:solidFill>
            <a:prstDash val="solid"/>
          </a:ln>
          <a:effectLst>
            <a:outerShdw blurRad="101600" dist="38100" dir="8100000" algn="bl" rotWithShape="0">
              <a:srgbClr val="000000">
                <a:alpha val="12000"/>
              </a:srgbClr>
            </a:outerShdw>
          </a:effectLst>
        </p:spPr>
        <p:txBody>
          <a:bodyPr/>
          <a:lstStyle/>
          <a:p>
            <a:endParaRPr lang="sv-SE"/>
          </a:p>
        </p:txBody>
      </p:sp>
      <p:sp>
        <p:nvSpPr>
          <p:cNvPr id="7" name="Text 4"/>
          <p:cNvSpPr/>
          <p:nvPr/>
        </p:nvSpPr>
        <p:spPr>
          <a:xfrm>
            <a:off x="594360" y="1051560"/>
            <a:ext cx="7955280" cy="3566160"/>
          </a:xfrm>
          <a:prstGeom prst="rect">
            <a:avLst/>
          </a:prstGeom>
          <a:noFill/>
          <a:ln/>
        </p:spPr>
        <p:txBody>
          <a:bodyPr wrap="square" lIns="0" tIns="0" rIns="0" bIns="0" rtlCol="0" anchor="t"/>
          <a:lstStyle/>
          <a:p>
            <a:pPr marL="0" indent="0">
              <a:buNone/>
            </a:pPr>
            <a:r>
              <a:rPr lang="en-US" sz="1200" dirty="0">
                <a:solidFill>
                  <a:srgbClr val="D4D4D4"/>
                </a:solidFill>
                <a:latin typeface="Consolas" pitchFamily="34" charset="0"/>
                <a:ea typeface="Consolas" pitchFamily="34" charset="-122"/>
                <a:cs typeface="Consolas" pitchFamily="34" charset="-120"/>
              </a:rPr>
              <a:t>[Fact]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public void CalculateVat_StandardRate_ReturnsCorrectAmount()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 Arrange</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var sut = new VatCalculator();</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 Act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var result = sut.CalculateVat(100m, 0.25m);</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 Assert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Assert.Equal(25m, result);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[Fact]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public void CalculateVat_NegativeAmount_ThrowsArgumentException()</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var sut = new VatCalculator();</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Assert.Throws&lt;ArgumentException&gt;(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 =&gt; sut.CalculateVat(-1m, 0.25m));</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Parametriserade tester med [Theory]</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Shape 3"/>
          <p:cNvSpPr/>
          <p:nvPr/>
        </p:nvSpPr>
        <p:spPr>
          <a:xfrm>
            <a:off x="457200" y="960120"/>
            <a:ext cx="8229600" cy="2743200"/>
          </a:xfrm>
          <a:prstGeom prst="rect">
            <a:avLst/>
          </a:prstGeom>
          <a:solidFill>
            <a:srgbClr val="1E2D2D"/>
          </a:solidFill>
          <a:ln w="12700">
            <a:solidFill>
              <a:srgbClr val="1E2D2D"/>
            </a:solidFill>
            <a:prstDash val="solid"/>
          </a:ln>
          <a:effectLst>
            <a:outerShdw blurRad="101600" dist="38100" dir="8100000" algn="bl" rotWithShape="0">
              <a:srgbClr val="000000">
                <a:alpha val="12000"/>
              </a:srgbClr>
            </a:outerShdw>
          </a:effectLst>
        </p:spPr>
        <p:txBody>
          <a:bodyPr/>
          <a:lstStyle/>
          <a:p>
            <a:endParaRPr lang="sv-SE"/>
          </a:p>
        </p:txBody>
      </p:sp>
      <p:sp>
        <p:nvSpPr>
          <p:cNvPr id="7" name="Text 4"/>
          <p:cNvSpPr/>
          <p:nvPr/>
        </p:nvSpPr>
        <p:spPr>
          <a:xfrm>
            <a:off x="594360" y="1051560"/>
            <a:ext cx="7955280" cy="2560320"/>
          </a:xfrm>
          <a:prstGeom prst="rect">
            <a:avLst/>
          </a:prstGeom>
          <a:noFill/>
          <a:ln/>
        </p:spPr>
        <p:txBody>
          <a:bodyPr wrap="square" lIns="0" tIns="0" rIns="0" bIns="0" rtlCol="0" anchor="t"/>
          <a:lstStyle/>
          <a:p>
            <a:pPr marL="0" indent="0">
              <a:buNone/>
            </a:pPr>
            <a:r>
              <a:rPr lang="en-US" sz="1300" dirty="0">
                <a:solidFill>
                  <a:srgbClr val="D4D4D4"/>
                </a:solidFill>
                <a:latin typeface="Consolas" pitchFamily="34" charset="0"/>
                <a:ea typeface="Consolas" pitchFamily="34" charset="-122"/>
                <a:cs typeface="Consolas" pitchFamily="34" charset="-120"/>
              </a:rPr>
              <a:t>[Theory]</a:t>
            </a:r>
            <a:endParaRPr lang="en-US" sz="1300" dirty="0"/>
          </a:p>
          <a:p>
            <a:pPr marL="0" indent="0">
              <a:buNone/>
            </a:pPr>
            <a:r>
              <a:rPr lang="en-US" sz="1300" dirty="0">
                <a:solidFill>
                  <a:srgbClr val="D4D4D4"/>
                </a:solidFill>
                <a:latin typeface="Consolas" pitchFamily="34" charset="0"/>
                <a:ea typeface="Consolas" pitchFamily="34" charset="-122"/>
                <a:cs typeface="Consolas" pitchFamily="34" charset="-120"/>
              </a:rPr>
              <a:t>[InlineData(100,   0.25, 25)]</a:t>
            </a:r>
            <a:endParaRPr lang="en-US" sz="1300" dirty="0"/>
          </a:p>
          <a:p>
            <a:pPr marL="0" indent="0">
              <a:buNone/>
            </a:pPr>
            <a:r>
              <a:rPr lang="en-US" sz="1300" dirty="0">
                <a:solidFill>
                  <a:srgbClr val="D4D4D4"/>
                </a:solidFill>
                <a:latin typeface="Consolas" pitchFamily="34" charset="0"/>
                <a:ea typeface="Consolas" pitchFamily="34" charset="-122"/>
                <a:cs typeface="Consolas" pitchFamily="34" charset="-120"/>
              </a:rPr>
              <a:t>[InlineData(0,     0.25, 0)]</a:t>
            </a:r>
            <a:endParaRPr lang="en-US" sz="1300" dirty="0"/>
          </a:p>
          <a:p>
            <a:pPr marL="0" indent="0">
              <a:buNone/>
            </a:pPr>
            <a:r>
              <a:rPr lang="en-US" sz="1300" dirty="0">
                <a:solidFill>
                  <a:srgbClr val="D4D4D4"/>
                </a:solidFill>
                <a:latin typeface="Consolas" pitchFamily="34" charset="0"/>
                <a:ea typeface="Consolas" pitchFamily="34" charset="-122"/>
                <a:cs typeface="Consolas" pitchFamily="34" charset="-120"/>
              </a:rPr>
              <a:t>[InlineData(99.99, 0.12, 12.00)]</a:t>
            </a:r>
            <a:endParaRPr lang="en-US" sz="1300" dirty="0"/>
          </a:p>
          <a:p>
            <a:pPr marL="0" indent="0">
              <a:buNone/>
            </a:pPr>
            <a:r>
              <a:rPr lang="en-US" sz="1300" dirty="0">
                <a:solidFill>
                  <a:srgbClr val="D4D4D4"/>
                </a:solidFill>
                <a:latin typeface="Consolas" pitchFamily="34" charset="0"/>
                <a:ea typeface="Consolas" pitchFamily="34" charset="-122"/>
                <a:cs typeface="Consolas" pitchFamily="34" charset="-120"/>
              </a:rPr>
              <a:t>[InlineData(1,     0.06, 0.06)]</a:t>
            </a:r>
            <a:endParaRPr lang="en-US" sz="1300" dirty="0"/>
          </a:p>
          <a:p>
            <a:pPr marL="0" indent="0">
              <a:buNone/>
            </a:pPr>
            <a:r>
              <a:rPr lang="en-US" sz="1300" dirty="0">
                <a:solidFill>
                  <a:srgbClr val="D4D4D4"/>
                </a:solidFill>
                <a:latin typeface="Consolas" pitchFamily="34" charset="0"/>
                <a:ea typeface="Consolas" pitchFamily="34" charset="-122"/>
                <a:cs typeface="Consolas" pitchFamily="34" charset="-120"/>
              </a:rPr>
              <a:t>public void CalculateVat_VariousInputs_ReturnsExpected(</a:t>
            </a:r>
            <a:endParaRPr lang="en-US" sz="1300" dirty="0"/>
          </a:p>
          <a:p>
            <a:pPr marL="0" indent="0">
              <a:buNone/>
            </a:pPr>
            <a:r>
              <a:rPr lang="en-US" sz="1300" dirty="0">
                <a:solidFill>
                  <a:srgbClr val="D4D4D4"/>
                </a:solidFill>
                <a:latin typeface="Consolas" pitchFamily="34" charset="0"/>
                <a:ea typeface="Consolas" pitchFamily="34" charset="-122"/>
                <a:cs typeface="Consolas" pitchFamily="34" charset="-120"/>
              </a:rPr>
              <a:t>    decimal amount, decimal rate, decimal expected)</a:t>
            </a:r>
            <a:endParaRPr lang="en-US" sz="1300" dirty="0"/>
          </a:p>
          <a:p>
            <a:pPr marL="0" indent="0">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buNone/>
            </a:pPr>
            <a:r>
              <a:rPr lang="en-US" sz="1300" dirty="0">
                <a:solidFill>
                  <a:srgbClr val="D4D4D4"/>
                </a:solidFill>
                <a:latin typeface="Consolas" pitchFamily="34" charset="0"/>
                <a:ea typeface="Consolas" pitchFamily="34" charset="-122"/>
                <a:cs typeface="Consolas" pitchFamily="34" charset="-120"/>
              </a:rPr>
              <a:t>    var sut = new VatCalculator();</a:t>
            </a:r>
            <a:endParaRPr lang="en-US" sz="1300" dirty="0"/>
          </a:p>
          <a:p>
            <a:pPr marL="0" indent="0">
              <a:buNone/>
            </a:pPr>
            <a:r>
              <a:rPr lang="en-US" sz="1300" dirty="0">
                <a:solidFill>
                  <a:srgbClr val="D4D4D4"/>
                </a:solidFill>
                <a:latin typeface="Consolas" pitchFamily="34" charset="0"/>
                <a:ea typeface="Consolas" pitchFamily="34" charset="-122"/>
                <a:cs typeface="Consolas" pitchFamily="34" charset="-120"/>
              </a:rPr>
              <a:t>    var result = sut.CalculateVat(amount, rate);</a:t>
            </a:r>
            <a:endParaRPr lang="en-US" sz="1300" dirty="0"/>
          </a:p>
          <a:p>
            <a:pPr marL="0" indent="0">
              <a:buNone/>
            </a:pPr>
            <a:r>
              <a:rPr lang="en-US" sz="1300" dirty="0">
                <a:solidFill>
                  <a:srgbClr val="D4D4D4"/>
                </a:solidFill>
                <a:latin typeface="Consolas" pitchFamily="34" charset="0"/>
                <a:ea typeface="Consolas" pitchFamily="34" charset="-122"/>
                <a:cs typeface="Consolas" pitchFamily="34" charset="-120"/>
              </a:rPr>
              <a:t>    Assert.Equal(expected, result);</a:t>
            </a:r>
            <a:endParaRPr lang="en-US" sz="1300" dirty="0"/>
          </a:p>
          <a:p>
            <a:pPr marL="0" indent="0">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
        <p:nvSpPr>
          <p:cNvPr id="8" name="Text 5"/>
          <p:cNvSpPr/>
          <p:nvPr/>
        </p:nvSpPr>
        <p:spPr>
          <a:xfrm>
            <a:off x="548640" y="3794760"/>
            <a:ext cx="8046720" cy="3657600"/>
          </a:xfrm>
          <a:prstGeom prst="rect">
            <a:avLst/>
          </a:prstGeom>
          <a:noFill/>
          <a:ln/>
        </p:spPr>
        <p:txBody>
          <a:bodyPr wrap="square" rtlCol="0" anchor="t"/>
          <a:lstStyle/>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Varje [InlineData] = ett separat test i rapporten</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Inga kopior av testlogiken — ett ställe att underhålla</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Komplexa objekt? Använd [MemberData] eller TheoryData&lt;T&gt;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Vad är en mock, och varför?</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Text 3"/>
          <p:cNvSpPr/>
          <p:nvPr/>
        </p:nvSpPr>
        <p:spPr>
          <a:xfrm>
            <a:off x="457200" y="1005840"/>
            <a:ext cx="3840480" cy="365760"/>
          </a:xfrm>
          <a:prstGeom prst="rect">
            <a:avLst/>
          </a:prstGeom>
          <a:noFill/>
          <a:ln/>
        </p:spPr>
        <p:txBody>
          <a:bodyPr wrap="square" lIns="0" tIns="0" rIns="0" bIns="0" rtlCol="0" anchor="ctr"/>
          <a:lstStyle/>
          <a:p>
            <a:pPr marL="0" indent="0">
              <a:buNone/>
            </a:pPr>
            <a:r>
              <a:rPr lang="en-US" sz="1400" b="1" dirty="0">
                <a:solidFill>
                  <a:srgbClr val="02A79E"/>
                </a:solidFill>
                <a:latin typeface="Calibri" pitchFamily="34" charset="0"/>
                <a:ea typeface="Calibri" pitchFamily="34" charset="-122"/>
                <a:cs typeface="Calibri" pitchFamily="34" charset="-120"/>
              </a:rPr>
              <a:t>Vad vi vill testa</a:t>
            </a:r>
            <a:endParaRPr lang="en-US" sz="1400" dirty="0"/>
          </a:p>
        </p:txBody>
      </p:sp>
      <p:sp>
        <p:nvSpPr>
          <p:cNvPr id="7" name="Text 4"/>
          <p:cNvSpPr/>
          <p:nvPr/>
        </p:nvSpPr>
        <p:spPr>
          <a:xfrm>
            <a:off x="4846320" y="1005840"/>
            <a:ext cx="3840480" cy="365760"/>
          </a:xfrm>
          <a:prstGeom prst="rect">
            <a:avLst/>
          </a:prstGeom>
          <a:noFill/>
          <a:ln/>
        </p:spPr>
        <p:txBody>
          <a:bodyPr wrap="square" lIns="0" tIns="0" rIns="0" bIns="0" rtlCol="0" anchor="ctr"/>
          <a:lstStyle/>
          <a:p>
            <a:pPr marL="0" indent="0">
              <a:buNone/>
            </a:pPr>
            <a:r>
              <a:rPr lang="en-US" sz="1400" b="1" dirty="0">
                <a:solidFill>
                  <a:srgbClr val="02A79E"/>
                </a:solidFill>
                <a:latin typeface="Calibri" pitchFamily="34" charset="0"/>
                <a:ea typeface="Calibri" pitchFamily="34" charset="-122"/>
                <a:cs typeface="Calibri" pitchFamily="34" charset="-120"/>
              </a:rPr>
              <a:t>Vad vi INTE vill ha i testet</a:t>
            </a:r>
            <a:endParaRPr lang="en-US" sz="1400" dirty="0"/>
          </a:p>
        </p:txBody>
      </p:sp>
      <p:sp>
        <p:nvSpPr>
          <p:cNvPr id="8" name="Text 5"/>
          <p:cNvSpPr/>
          <p:nvPr/>
        </p:nvSpPr>
        <p:spPr>
          <a:xfrm>
            <a:off x="457200" y="1417320"/>
            <a:ext cx="3840480" cy="160020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rgbClr val="1A1A1A"/>
                </a:solidFill>
                <a:latin typeface="Calibri" pitchFamily="34" charset="0"/>
                <a:ea typeface="Calibri" pitchFamily="34" charset="-122"/>
                <a:cs typeface="Calibri" pitchFamily="34" charset="-120"/>
              </a:rPr>
              <a:t>Vår affärslogik</a:t>
            </a:r>
            <a:endParaRPr lang="en-US" sz="1600" dirty="0"/>
          </a:p>
          <a:p>
            <a:pPr marL="342900" indent="-342900">
              <a:spcAft>
                <a:spcPts val="500"/>
              </a:spcAft>
              <a:buSzPct val="100000"/>
              <a:buChar char="•"/>
            </a:pPr>
            <a:r>
              <a:rPr lang="en-US" sz="1600" dirty="0">
                <a:solidFill>
                  <a:srgbClr val="1A1A1A"/>
                </a:solidFill>
                <a:latin typeface="Calibri" pitchFamily="34" charset="0"/>
                <a:ea typeface="Calibri" pitchFamily="34" charset="-122"/>
                <a:cs typeface="Calibri" pitchFamily="34" charset="-120"/>
              </a:rPr>
              <a:t>Korrekt interaktion med dependencies</a:t>
            </a:r>
            <a:endParaRPr lang="en-US" sz="1600" dirty="0"/>
          </a:p>
          <a:p>
            <a:pPr marL="342900" indent="-342900">
              <a:spcAft>
                <a:spcPts val="500"/>
              </a:spcAft>
              <a:buSzPct val="100000"/>
              <a:buChar char="•"/>
            </a:pPr>
            <a:r>
              <a:rPr lang="en-US" sz="1600" dirty="0">
                <a:solidFill>
                  <a:srgbClr val="1A1A1A"/>
                </a:solidFill>
                <a:latin typeface="Calibri" pitchFamily="34" charset="0"/>
                <a:ea typeface="Calibri" pitchFamily="34" charset="-122"/>
                <a:cs typeface="Calibri" pitchFamily="34" charset="-120"/>
              </a:rPr>
              <a:t>Felhantering</a:t>
            </a:r>
            <a:endParaRPr lang="en-US" sz="1600" dirty="0"/>
          </a:p>
        </p:txBody>
      </p:sp>
      <p:sp>
        <p:nvSpPr>
          <p:cNvPr id="9" name="Text 6"/>
          <p:cNvSpPr/>
          <p:nvPr/>
        </p:nvSpPr>
        <p:spPr>
          <a:xfrm>
            <a:off x="4846320" y="1417320"/>
            <a:ext cx="3840480" cy="160020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rgbClr val="1A1A1A"/>
                </a:solidFill>
                <a:latin typeface="Calibri" pitchFamily="34" charset="0"/>
                <a:ea typeface="Calibri" pitchFamily="34" charset="-122"/>
                <a:cs typeface="Calibri" pitchFamily="34" charset="-120"/>
              </a:rPr>
              <a:t>SQL Server / riktiga databaser</a:t>
            </a:r>
            <a:endParaRPr lang="en-US" sz="1600" dirty="0"/>
          </a:p>
          <a:p>
            <a:pPr marL="342900" indent="-342900">
              <a:spcAft>
                <a:spcPts val="500"/>
              </a:spcAft>
              <a:buSzPct val="100000"/>
              <a:buChar char="•"/>
            </a:pPr>
            <a:r>
              <a:rPr lang="en-US" sz="1600" dirty="0">
                <a:solidFill>
                  <a:srgbClr val="1A1A1A"/>
                </a:solidFill>
                <a:latin typeface="Calibri" pitchFamily="34" charset="0"/>
                <a:ea typeface="Calibri" pitchFamily="34" charset="-122"/>
                <a:cs typeface="Calibri" pitchFamily="34" charset="-120"/>
              </a:rPr>
              <a:t>SMTP-servrar</a:t>
            </a:r>
            <a:endParaRPr lang="en-US" sz="1600" dirty="0"/>
          </a:p>
          <a:p>
            <a:pPr marL="342900" indent="-342900">
              <a:spcAft>
                <a:spcPts val="500"/>
              </a:spcAft>
              <a:buSzPct val="100000"/>
              <a:buChar char="•"/>
            </a:pPr>
            <a:r>
              <a:rPr lang="en-US" sz="1600" dirty="0">
                <a:solidFill>
                  <a:srgbClr val="1A1A1A"/>
                </a:solidFill>
                <a:latin typeface="Calibri" pitchFamily="34" charset="0"/>
                <a:ea typeface="Calibri" pitchFamily="34" charset="-122"/>
                <a:cs typeface="Calibri" pitchFamily="34" charset="-120"/>
              </a:rPr>
              <a:t>HTTP-anrop mot externa tjänster</a:t>
            </a:r>
            <a:endParaRPr lang="en-US" sz="1600" dirty="0"/>
          </a:p>
          <a:p>
            <a:pPr marL="342900" indent="-342900">
              <a:spcAft>
                <a:spcPts val="500"/>
              </a:spcAft>
              <a:buSzPct val="100000"/>
              <a:buChar char="•"/>
            </a:pPr>
            <a:r>
              <a:rPr lang="en-US" sz="1600" dirty="0">
                <a:solidFill>
                  <a:srgbClr val="1A1A1A"/>
                </a:solidFill>
                <a:latin typeface="Calibri" pitchFamily="34" charset="0"/>
                <a:ea typeface="Calibri" pitchFamily="34" charset="-122"/>
                <a:cs typeface="Calibri" pitchFamily="34" charset="-120"/>
              </a:rPr>
              <a:t>Filsystemet</a:t>
            </a:r>
            <a:endParaRPr lang="en-US" sz="1600" dirty="0"/>
          </a:p>
        </p:txBody>
      </p:sp>
      <p:sp>
        <p:nvSpPr>
          <p:cNvPr id="10" name="Shape 7"/>
          <p:cNvSpPr/>
          <p:nvPr/>
        </p:nvSpPr>
        <p:spPr>
          <a:xfrm>
            <a:off x="4526280" y="1097280"/>
            <a:ext cx="18288" cy="1828800"/>
          </a:xfrm>
          <a:prstGeom prst="rect">
            <a:avLst/>
          </a:prstGeom>
          <a:solidFill>
            <a:srgbClr val="DDDDDD"/>
          </a:solidFill>
          <a:ln w="12700">
            <a:solidFill>
              <a:srgbClr val="DDDDDD"/>
            </a:solidFill>
            <a:prstDash val="solid"/>
          </a:ln>
        </p:spPr>
        <p:txBody>
          <a:bodyPr/>
          <a:lstStyle/>
          <a:p>
            <a:endParaRPr lang="sv-SE"/>
          </a:p>
        </p:txBody>
      </p:sp>
      <p:sp>
        <p:nvSpPr>
          <p:cNvPr id="11" name="Shape 8"/>
          <p:cNvSpPr/>
          <p:nvPr/>
        </p:nvSpPr>
        <p:spPr>
          <a:xfrm>
            <a:off x="457200" y="3154680"/>
            <a:ext cx="8229600" cy="1600200"/>
          </a:xfrm>
          <a:prstGeom prst="rect">
            <a:avLst/>
          </a:prstGeom>
          <a:solidFill>
            <a:srgbClr val="EFF9F8"/>
          </a:solidFill>
          <a:ln w="12700">
            <a:solidFill>
              <a:srgbClr val="C2E8E5"/>
            </a:solidFill>
            <a:prstDash val="solid"/>
          </a:ln>
        </p:spPr>
        <p:txBody>
          <a:bodyPr/>
          <a:lstStyle/>
          <a:p>
            <a:endParaRPr lang="sv-SE"/>
          </a:p>
        </p:txBody>
      </p:sp>
      <p:sp>
        <p:nvSpPr>
          <p:cNvPr id="12" name="Text 9"/>
          <p:cNvSpPr/>
          <p:nvPr/>
        </p:nvSpPr>
        <p:spPr>
          <a:xfrm>
            <a:off x="640080" y="3246120"/>
            <a:ext cx="7863840" cy="457200"/>
          </a:xfrm>
          <a:prstGeom prst="rect">
            <a:avLst/>
          </a:prstGeom>
          <a:noFill/>
          <a:ln/>
        </p:spPr>
        <p:txBody>
          <a:bodyPr wrap="square" lIns="0" tIns="0" rIns="0" bIns="0" rtlCol="0" anchor="ctr"/>
          <a:lstStyle/>
          <a:p>
            <a:pPr marL="0" indent="0">
              <a:buNone/>
            </a:pPr>
            <a:r>
              <a:rPr lang="en-US" sz="1600" b="1" dirty="0">
                <a:solidFill>
                  <a:srgbClr val="02A79E"/>
                </a:solidFill>
                <a:latin typeface="Calibri" pitchFamily="34" charset="0"/>
                <a:ea typeface="Calibri" pitchFamily="34" charset="-122"/>
                <a:cs typeface="Calibri" pitchFamily="34" charset="-120"/>
              </a:rPr>
              <a:t>Mock = kontrollerad stand-in som ersätter en dependency</a:t>
            </a:r>
            <a:endParaRPr lang="en-US" sz="1600" dirty="0"/>
          </a:p>
        </p:txBody>
      </p:sp>
      <p:sp>
        <p:nvSpPr>
          <p:cNvPr id="13" name="Text 10"/>
          <p:cNvSpPr/>
          <p:nvPr/>
        </p:nvSpPr>
        <p:spPr>
          <a:xfrm>
            <a:off x="640080" y="3749040"/>
            <a:ext cx="7863840" cy="82296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.NET: </a:t>
            </a:r>
            <a:r>
              <a:rPr lang="en-US" sz="1400" dirty="0">
                <a:solidFill>
                  <a:srgbClr val="1A1A1A"/>
                </a:solidFill>
                <a:latin typeface="Calibri" pitchFamily="34" charset="0"/>
                <a:ea typeface="Calibri" pitchFamily="34" charset="-122"/>
                <a:cs typeface="Calibri" pitchFamily="34" charset="-120"/>
              </a:rPr>
              <a:t>NSubstitute (vi använder detta) · Moq · FakeItEasy
</a:t>
            </a:r>
            <a:r>
              <a:rPr lang="en-US" sz="1400" b="1" dirty="0">
                <a:solidFill>
                  <a:srgbClr val="1A1A1A"/>
                </a:solidFill>
                <a:latin typeface="Calibri" pitchFamily="34" charset="0"/>
                <a:ea typeface="Calibri" pitchFamily="34" charset="-122"/>
                <a:cs typeface="Calibri" pitchFamily="34" charset="-120"/>
              </a:rPr>
              <a:t>Krav: </a:t>
            </a:r>
            <a:r>
              <a:rPr lang="en-US" sz="1400" dirty="0">
                <a:solidFill>
                  <a:srgbClr val="1A1A1A"/>
                </a:solidFill>
                <a:latin typeface="Calibri" pitchFamily="34" charset="0"/>
                <a:ea typeface="Calibri" pitchFamily="34" charset="-122"/>
                <a:cs typeface="Calibri" pitchFamily="34" charset="-120"/>
              </a:rPr>
              <a:t>Programmera mot interface — mock-bibliotek fungerar bara mot interface/virtual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Mocking i C# med NSubstitute</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Shape 3"/>
          <p:cNvSpPr/>
          <p:nvPr/>
        </p:nvSpPr>
        <p:spPr>
          <a:xfrm>
            <a:off x="457200" y="960120"/>
            <a:ext cx="8229600" cy="3749040"/>
          </a:xfrm>
          <a:prstGeom prst="rect">
            <a:avLst/>
          </a:prstGeom>
          <a:solidFill>
            <a:srgbClr val="1E2D2D"/>
          </a:solidFill>
          <a:ln w="12700">
            <a:solidFill>
              <a:srgbClr val="1E2D2D"/>
            </a:solidFill>
            <a:prstDash val="solid"/>
          </a:ln>
          <a:effectLst>
            <a:outerShdw blurRad="101600" dist="38100" dir="8100000" algn="bl" rotWithShape="0">
              <a:srgbClr val="000000">
                <a:alpha val="12000"/>
              </a:srgbClr>
            </a:outerShdw>
          </a:effectLst>
        </p:spPr>
        <p:txBody>
          <a:bodyPr/>
          <a:lstStyle/>
          <a:p>
            <a:endParaRPr lang="sv-SE"/>
          </a:p>
        </p:txBody>
      </p:sp>
      <p:sp>
        <p:nvSpPr>
          <p:cNvPr id="7" name="Text 4"/>
          <p:cNvSpPr/>
          <p:nvPr/>
        </p:nvSpPr>
        <p:spPr>
          <a:xfrm>
            <a:off x="594360" y="1051560"/>
            <a:ext cx="7955280" cy="3566160"/>
          </a:xfrm>
          <a:prstGeom prst="rect">
            <a:avLst/>
          </a:prstGeom>
          <a:noFill/>
          <a:ln/>
        </p:spPr>
        <p:txBody>
          <a:bodyPr wrap="square" lIns="0" tIns="0" rIns="0" bIns="0" rtlCol="0" anchor="t"/>
          <a:lstStyle/>
          <a:p>
            <a:pPr marL="0" indent="0">
              <a:buNone/>
            </a:pPr>
            <a:r>
              <a:rPr lang="en-US" sz="1200" dirty="0">
                <a:solidFill>
                  <a:srgbClr val="D4D4D4"/>
                </a:solidFill>
                <a:latin typeface="Consolas" pitchFamily="34" charset="0"/>
                <a:ea typeface="Consolas" pitchFamily="34" charset="-122"/>
                <a:cs typeface="Consolas" pitchFamily="34" charset="-120"/>
              </a:rPr>
              <a:t>var repo  = Substitute.For&lt;ICustomerRepository&gt;();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var email = Substitute.For&lt;IEmailSender&gt;();</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var customer = new Customer { Id = id, IsActive = true, ...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repo.GetByIdAsync(id).Returns(customer);</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var sut = new CustomerService(repo, email);</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Act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var result = await sut.DeactivateAsync(id);</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Assert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Assert.True(result);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Assert.False(customer.IsActive);</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await repo.Received(1).SaveAsync(</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Arg.Is&lt;Customer&gt;(c =&gt; !c.IsActive));</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await email.Received(1).SendAsync(</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"anna@example.com", "Account deactivated", Arg.Any&lt;string&gt;());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Testdata med Bogus</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Shape 3"/>
          <p:cNvSpPr/>
          <p:nvPr/>
        </p:nvSpPr>
        <p:spPr>
          <a:xfrm>
            <a:off x="457200" y="960120"/>
            <a:ext cx="8229600" cy="3291840"/>
          </a:xfrm>
          <a:prstGeom prst="rect">
            <a:avLst/>
          </a:prstGeom>
          <a:solidFill>
            <a:srgbClr val="1E2D2D"/>
          </a:solidFill>
          <a:ln w="12700">
            <a:solidFill>
              <a:srgbClr val="1E2D2D"/>
            </a:solidFill>
            <a:prstDash val="solid"/>
          </a:ln>
          <a:effectLst>
            <a:outerShdw blurRad="101600" dist="38100" dir="8100000" algn="bl" rotWithShape="0">
              <a:srgbClr val="000000">
                <a:alpha val="12000"/>
              </a:srgbClr>
            </a:outerShdw>
          </a:effectLst>
        </p:spPr>
        <p:txBody>
          <a:bodyPr/>
          <a:lstStyle/>
          <a:p>
            <a:endParaRPr lang="sv-SE"/>
          </a:p>
        </p:txBody>
      </p:sp>
      <p:sp>
        <p:nvSpPr>
          <p:cNvPr id="7" name="Text 4"/>
          <p:cNvSpPr/>
          <p:nvPr/>
        </p:nvSpPr>
        <p:spPr>
          <a:xfrm>
            <a:off x="594360" y="1051560"/>
            <a:ext cx="7955280" cy="3108960"/>
          </a:xfrm>
          <a:prstGeom prst="rect">
            <a:avLst/>
          </a:prstGeom>
          <a:noFill/>
          <a:ln/>
        </p:spPr>
        <p:txBody>
          <a:bodyPr wrap="square" lIns="0" tIns="0" rIns="0" bIns="0" rtlCol="0" anchor="t"/>
          <a:lstStyle/>
          <a:p>
            <a:pPr marL="0" indent="0">
              <a:buNone/>
            </a:pPr>
            <a:r>
              <a:rPr lang="en-US" sz="1200" dirty="0">
                <a:solidFill>
                  <a:srgbClr val="D4D4D4"/>
                </a:solidFill>
                <a:latin typeface="Consolas" pitchFamily="34" charset="0"/>
                <a:ea typeface="Consolas" pitchFamily="34" charset="-122"/>
                <a:cs typeface="Consolas" pitchFamily="34" charset="-120"/>
              </a:rPr>
              <a:t>public class CustomerFaker : Faker&lt;Customer&gt;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public CustomerFaker()</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RuleFor(c =&gt; c.Id,           f =&gt; f.Random.Guid());</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RuleFor(c =&gt; c.Name,         f =&gt; f.Name.FullName());</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RuleFor(c =&gt; c.Email,   (f, c) =&gt; f.Internet.Email(c.Name));</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RuleFor(c =&gt; c.IsActive,     f =&gt; f.Random.Bool(0.9f));</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RuleFor(c =&gt; c.RegisteredAt, f =&gt; f.Date.Past(2));</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I testet: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var customer = new CustomerFaker().Generate();</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Svensk data:  Locale = "sv";</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Deterministiskt:  Randomizer.Seed = new Random(1234);</a:t>
            </a:r>
            <a:endParaRPr lang="en-US" sz="1200" dirty="0"/>
          </a:p>
        </p:txBody>
      </p:sp>
      <p:sp>
        <p:nvSpPr>
          <p:cNvPr id="8" name="Text 5"/>
          <p:cNvSpPr/>
          <p:nvPr/>
        </p:nvSpPr>
        <p:spPr>
          <a:xfrm>
            <a:off x="548640" y="4343400"/>
            <a:ext cx="8046720" cy="36576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Klart vad som är relevant — properties du inte styr är inte viktiga</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Lokalisering: Locale = "sv" ger svenska namn och adresser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Enhetstest i TypeScript med Jest</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Shape 3"/>
          <p:cNvSpPr/>
          <p:nvPr/>
        </p:nvSpPr>
        <p:spPr>
          <a:xfrm>
            <a:off x="457200" y="960120"/>
            <a:ext cx="8229600" cy="3749040"/>
          </a:xfrm>
          <a:prstGeom prst="rect">
            <a:avLst/>
          </a:prstGeom>
          <a:solidFill>
            <a:srgbClr val="1E2D2D"/>
          </a:solidFill>
          <a:ln w="12700">
            <a:solidFill>
              <a:srgbClr val="1E2D2D"/>
            </a:solidFill>
            <a:prstDash val="solid"/>
          </a:ln>
          <a:effectLst>
            <a:outerShdw blurRad="101600" dist="38100" dir="8100000" algn="bl" rotWithShape="0">
              <a:srgbClr val="000000">
                <a:alpha val="12000"/>
              </a:srgbClr>
            </a:outerShdw>
          </a:effectLst>
        </p:spPr>
        <p:txBody>
          <a:bodyPr/>
          <a:lstStyle/>
          <a:p>
            <a:endParaRPr lang="sv-SE"/>
          </a:p>
        </p:txBody>
      </p:sp>
      <p:sp>
        <p:nvSpPr>
          <p:cNvPr id="7" name="Text 4"/>
          <p:cNvSpPr/>
          <p:nvPr/>
        </p:nvSpPr>
        <p:spPr>
          <a:xfrm>
            <a:off x="594360" y="1051560"/>
            <a:ext cx="7955280" cy="3566160"/>
          </a:xfrm>
          <a:prstGeom prst="rect">
            <a:avLst/>
          </a:prstGeom>
          <a:noFill/>
          <a:ln/>
        </p:spPr>
        <p:txBody>
          <a:bodyPr wrap="square" lIns="0" tIns="0" rIns="0" bIns="0" rtlCol="0" anchor="t"/>
          <a:lstStyle/>
          <a:p>
            <a:pPr marL="0" indent="0">
              <a:buNone/>
            </a:pPr>
            <a:r>
              <a:rPr lang="en-US" sz="1200" dirty="0">
                <a:solidFill>
                  <a:srgbClr val="D4D4D4"/>
                </a:solidFill>
                <a:latin typeface="Consolas" pitchFamily="34" charset="0"/>
                <a:ea typeface="Consolas" pitchFamily="34" charset="-122"/>
                <a:cs typeface="Consolas" pitchFamily="34" charset="-120"/>
              </a:rPr>
              <a:t>describe("calculateVat", () =&gt;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test("returns 25 for 100 at 25%", () =&gt;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expect(calculateVat(100, 0.25)).toBe(25);</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test.each([</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[100,   0.25, 25],</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[0,     0.25,  0],</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[99.99, 0.12, 12.00],</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[1,     0.06,  0.06],</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])("calculateVat(%f, %f) returns %f",</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(amount, rate, expected) =&gt;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expect(calculateVat(amount, rate)).toBe(expected);</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test("throws on negative amount", () =&gt;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expect(() =&gt; calculateVat(-1, 0.25))</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.toThrow("Amount cannot be negative");</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Mocking i Jest</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Shape 3"/>
          <p:cNvSpPr/>
          <p:nvPr/>
        </p:nvSpPr>
        <p:spPr>
          <a:xfrm>
            <a:off x="457200" y="960120"/>
            <a:ext cx="8229600" cy="3749040"/>
          </a:xfrm>
          <a:prstGeom prst="rect">
            <a:avLst/>
          </a:prstGeom>
          <a:solidFill>
            <a:srgbClr val="1E2D2D"/>
          </a:solidFill>
          <a:ln w="12700">
            <a:solidFill>
              <a:srgbClr val="1E2D2D"/>
            </a:solidFill>
            <a:prstDash val="solid"/>
          </a:ln>
          <a:effectLst>
            <a:outerShdw blurRad="101600" dist="38100" dir="8100000" algn="bl" rotWithShape="0">
              <a:srgbClr val="000000">
                <a:alpha val="12000"/>
              </a:srgbClr>
            </a:outerShdw>
          </a:effectLst>
        </p:spPr>
        <p:txBody>
          <a:bodyPr/>
          <a:lstStyle/>
          <a:p>
            <a:endParaRPr lang="sv-SE"/>
          </a:p>
        </p:txBody>
      </p:sp>
      <p:sp>
        <p:nvSpPr>
          <p:cNvPr id="7" name="Text 4"/>
          <p:cNvSpPr/>
          <p:nvPr/>
        </p:nvSpPr>
        <p:spPr>
          <a:xfrm>
            <a:off x="594360" y="1051560"/>
            <a:ext cx="7955280" cy="3566160"/>
          </a:xfrm>
          <a:prstGeom prst="rect">
            <a:avLst/>
          </a:prstGeom>
          <a:noFill/>
          <a:ln/>
        </p:spPr>
        <p:txBody>
          <a:bodyPr wrap="square" lIns="0" tIns="0" rIns="0" bIns="0" rtlCol="0" anchor="t"/>
          <a:lstStyle/>
          <a:p>
            <a:pPr marL="0" indent="0">
              <a:buNone/>
            </a:pPr>
            <a:r>
              <a:rPr lang="en-US" sz="1200" dirty="0">
                <a:solidFill>
                  <a:srgbClr val="D4D4D4"/>
                </a:solidFill>
                <a:latin typeface="Consolas" pitchFamily="34" charset="0"/>
                <a:ea typeface="Consolas" pitchFamily="34" charset="-122"/>
                <a:cs typeface="Consolas" pitchFamily="34" charset="-120"/>
              </a:rPr>
              <a:t>let repo:  jest.Mocked&lt;CustomerRepository&gt;;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let email: jest.Mocked&lt;EmailSender&gt;;</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beforeEach(() =&gt;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repo  = { getById: jest.fn(), save: jest.fn()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email = { send: jest.fn()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sut   = new CustomerService(repo, email);</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test("deactivates and notifies existing customer", async () =&gt;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repo.getById.mockResolvedValue(customer);</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const result = await sut.deactivate("c1");</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expect(result).toBe(true);</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expect(repo.save).toHaveBeenCalledWith(</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expect.objectContaining({ isActive: false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expect(email.send).toHaveBeenCalledWith(</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"anna@example.com", "Account deactivated",</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expect.stringContaining("Anna"));</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Integrationstest med WebApplicationFactory</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Shape 3"/>
          <p:cNvSpPr/>
          <p:nvPr/>
        </p:nvSpPr>
        <p:spPr>
          <a:xfrm>
            <a:off x="457200" y="960120"/>
            <a:ext cx="8229600" cy="3749040"/>
          </a:xfrm>
          <a:prstGeom prst="rect">
            <a:avLst/>
          </a:prstGeom>
          <a:solidFill>
            <a:srgbClr val="1E2D2D"/>
          </a:solidFill>
          <a:ln w="12700">
            <a:solidFill>
              <a:srgbClr val="1E2D2D"/>
            </a:solidFill>
            <a:prstDash val="solid"/>
          </a:ln>
          <a:effectLst>
            <a:outerShdw blurRad="101600" dist="38100" dir="8100000" algn="bl" rotWithShape="0">
              <a:srgbClr val="000000">
                <a:alpha val="12000"/>
              </a:srgbClr>
            </a:outerShdw>
          </a:effectLst>
        </p:spPr>
        <p:txBody>
          <a:bodyPr/>
          <a:lstStyle/>
          <a:p>
            <a:endParaRPr lang="sv-SE"/>
          </a:p>
        </p:txBody>
      </p:sp>
      <p:sp>
        <p:nvSpPr>
          <p:cNvPr id="7" name="Text 4"/>
          <p:cNvSpPr/>
          <p:nvPr/>
        </p:nvSpPr>
        <p:spPr>
          <a:xfrm>
            <a:off x="594360" y="1051560"/>
            <a:ext cx="7955280" cy="3566160"/>
          </a:xfrm>
          <a:prstGeom prst="rect">
            <a:avLst/>
          </a:prstGeom>
          <a:noFill/>
          <a:ln/>
        </p:spPr>
        <p:txBody>
          <a:bodyPr wrap="square" lIns="0" tIns="0" rIns="0" bIns="0" rtlCol="0" anchor="t"/>
          <a:lstStyle/>
          <a:p>
            <a:pPr marL="0" indent="0">
              <a:buNone/>
            </a:pPr>
            <a:r>
              <a:rPr lang="en-US" sz="1200" dirty="0">
                <a:solidFill>
                  <a:srgbClr val="D4D4D4"/>
                </a:solidFill>
                <a:latin typeface="Consolas" pitchFamily="34" charset="0"/>
                <a:ea typeface="Consolas" pitchFamily="34" charset="-122"/>
                <a:cs typeface="Consolas" pitchFamily="34" charset="-120"/>
              </a:rPr>
              <a:t>// Program.cs (längst ner)</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public partial class Program { }</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Tests</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public class CustomersApiTests</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 IClassFixture&lt;WebApplicationFactory&lt;Program&gt;&gt;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 Byt ut externa dependencies</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_factory = factory.WithWebHostBuilder(builder =&gt;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builder.ConfigureTestServices(services =&gt;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services.Remove(/* IEmailSender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services.AddSingleton(Substitute.For&lt;IEmailSender&gt;());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marL="0" indent="0">
              <a:buNone/>
            </a:pP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[Fact]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public async Task GetCustomer_ExistingId_Returns200()</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var client = _factory.CreateClient();</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var response = await client.GetAsync("/api/customers/c1");</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Assert.Equal(HttpStatusCode.OK, response.StatusCode);</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D4D4D4"/>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Test av Office.js-tillägg</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Text 3"/>
          <p:cNvSpPr/>
          <p:nvPr/>
        </p:nvSpPr>
        <p:spPr>
          <a:xfrm>
            <a:off x="457200" y="1005840"/>
            <a:ext cx="3840480" cy="365760"/>
          </a:xfrm>
          <a:prstGeom prst="rect">
            <a:avLst/>
          </a:prstGeom>
          <a:noFill/>
          <a:ln/>
        </p:spPr>
        <p:txBody>
          <a:bodyPr wrap="square" lIns="0" tIns="0" rIns="0" bIns="0" rtlCol="0" anchor="ctr"/>
          <a:lstStyle/>
          <a:p>
            <a:pPr marL="0" indent="0">
              <a:buNone/>
            </a:pPr>
            <a:r>
              <a:rPr lang="en-US" sz="1400" b="1" dirty="0">
                <a:solidFill>
                  <a:srgbClr val="02A79E"/>
                </a:solidFill>
                <a:latin typeface="Calibri" pitchFamily="34" charset="0"/>
                <a:ea typeface="Calibri" pitchFamily="34" charset="-122"/>
                <a:cs typeface="Calibri" pitchFamily="34" charset="-120"/>
              </a:rPr>
              <a:t>Problemet</a:t>
            </a:r>
            <a:endParaRPr lang="en-US" sz="1400" dirty="0"/>
          </a:p>
        </p:txBody>
      </p:sp>
      <p:sp>
        <p:nvSpPr>
          <p:cNvPr id="7" name="Text 4"/>
          <p:cNvSpPr/>
          <p:nvPr/>
        </p:nvSpPr>
        <p:spPr>
          <a:xfrm>
            <a:off x="4846320" y="1005840"/>
            <a:ext cx="3840480" cy="365760"/>
          </a:xfrm>
          <a:prstGeom prst="rect">
            <a:avLst/>
          </a:prstGeom>
          <a:noFill/>
          <a:ln/>
        </p:spPr>
        <p:txBody>
          <a:bodyPr wrap="square" lIns="0" tIns="0" rIns="0" bIns="0" rtlCol="0" anchor="ctr"/>
          <a:lstStyle/>
          <a:p>
            <a:pPr marL="0" indent="0">
              <a:buNone/>
            </a:pPr>
            <a:r>
              <a:rPr lang="en-US" sz="1400" b="1" dirty="0">
                <a:solidFill>
                  <a:srgbClr val="02A79E"/>
                </a:solidFill>
                <a:latin typeface="Calibri" pitchFamily="34" charset="0"/>
                <a:ea typeface="Calibri" pitchFamily="34" charset="-122"/>
                <a:cs typeface="Calibri" pitchFamily="34" charset="-120"/>
              </a:rPr>
              <a:t>Lösningen: office-addin-mock</a:t>
            </a:r>
            <a:endParaRPr lang="en-US" sz="1400" dirty="0"/>
          </a:p>
        </p:txBody>
      </p:sp>
      <p:sp>
        <p:nvSpPr>
          <p:cNvPr id="8" name="Text 5"/>
          <p:cNvSpPr/>
          <p:nvPr/>
        </p:nvSpPr>
        <p:spPr>
          <a:xfrm>
            <a:off x="457200" y="1417320"/>
            <a:ext cx="3840480" cy="17830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Office.js initierar sig i en webview inuti Excel/Word</a:t>
            </a:r>
            <a:endParaRPr lang="en-US" sz="1500" dirty="0"/>
          </a:p>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Kan inte laddas i Node — Jest kraschar</a:t>
            </a:r>
            <a:endParaRPr lang="en-US" sz="1500" dirty="0"/>
          </a:p>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F5-loopen är din enda option utan mock</a:t>
            </a:r>
            <a:endParaRPr lang="en-US" sz="1500" dirty="0"/>
          </a:p>
        </p:txBody>
      </p:sp>
      <p:sp>
        <p:nvSpPr>
          <p:cNvPr id="9" name="Text 6"/>
          <p:cNvSpPr/>
          <p:nvPr/>
        </p:nvSpPr>
        <p:spPr>
          <a:xfrm>
            <a:off x="4846320" y="1417320"/>
            <a:ext cx="3840480" cy="17830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npm install office-addin-mock --save-dev</a:t>
            </a:r>
            <a:endParaRPr lang="en-US" sz="1500" dirty="0"/>
          </a:p>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OfficeMockObject håller intern state (load/sync)</a:t>
            </a:r>
            <a:endParaRPr lang="en-US" sz="1500" dirty="0"/>
          </a:p>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Fungerar med Jest, Mocha — vilken runner som helst</a:t>
            </a:r>
            <a:endParaRPr lang="en-US" sz="1500" dirty="0"/>
          </a:p>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Bästa tipset: bryt ut affärslogik till rena funktioner</a:t>
            </a:r>
            <a:endParaRPr lang="en-US" sz="1500" dirty="0"/>
          </a:p>
        </p:txBody>
      </p:sp>
      <p:sp>
        <p:nvSpPr>
          <p:cNvPr id="10" name="Shape 7"/>
          <p:cNvSpPr/>
          <p:nvPr/>
        </p:nvSpPr>
        <p:spPr>
          <a:xfrm>
            <a:off x="4526280" y="1097280"/>
            <a:ext cx="18288" cy="2011680"/>
          </a:xfrm>
          <a:prstGeom prst="rect">
            <a:avLst/>
          </a:prstGeom>
          <a:solidFill>
            <a:srgbClr val="DDDDDD"/>
          </a:solidFill>
          <a:ln w="12700">
            <a:solidFill>
              <a:srgbClr val="DDDDDD"/>
            </a:solidFill>
            <a:prstDash val="solid"/>
          </a:ln>
        </p:spPr>
        <p:txBody>
          <a:bodyPr/>
          <a:lstStyle/>
          <a:p>
            <a:endParaRPr lang="sv-SE"/>
          </a:p>
        </p:txBody>
      </p:sp>
      <p:sp>
        <p:nvSpPr>
          <p:cNvPr id="11" name="Shape 8"/>
          <p:cNvSpPr/>
          <p:nvPr/>
        </p:nvSpPr>
        <p:spPr>
          <a:xfrm>
            <a:off x="457200" y="3291840"/>
            <a:ext cx="8229600" cy="2098900"/>
          </a:xfrm>
          <a:prstGeom prst="rect">
            <a:avLst/>
          </a:prstGeom>
          <a:solidFill>
            <a:srgbClr val="1E2D2D"/>
          </a:solidFill>
          <a:ln w="12700">
            <a:solidFill>
              <a:srgbClr val="1E2D2D"/>
            </a:solidFill>
            <a:prstDash val="solid"/>
          </a:ln>
          <a:effectLst>
            <a:outerShdw blurRad="101600" dist="38100" dir="8100000" algn="bl" rotWithShape="0">
              <a:srgbClr val="000000">
                <a:alpha val="12000"/>
              </a:srgbClr>
            </a:outerShdw>
          </a:effectLst>
        </p:spPr>
        <p:txBody>
          <a:bodyPr/>
          <a:lstStyle/>
          <a:p>
            <a:endParaRPr lang="sv-SE"/>
          </a:p>
        </p:txBody>
      </p:sp>
      <p:sp>
        <p:nvSpPr>
          <p:cNvPr id="12" name="Text 9"/>
          <p:cNvSpPr/>
          <p:nvPr/>
        </p:nvSpPr>
        <p:spPr>
          <a:xfrm>
            <a:off x="594360" y="3383280"/>
            <a:ext cx="7955280" cy="1913206"/>
          </a:xfrm>
          <a:prstGeom prst="rect">
            <a:avLst/>
          </a:prstGeom>
          <a:noFill/>
          <a:ln/>
        </p:spPr>
        <p:txBody>
          <a:bodyPr wrap="square" lIns="0" tIns="0" rIns="0" bIns="0" rtlCol="0" anchor="t"/>
          <a:lstStyle/>
          <a:p>
            <a:pPr marL="0" indent="0">
              <a:buNone/>
            </a:pPr>
            <a:r>
              <a:rPr lang="en-US" sz="1100" dirty="0">
                <a:solidFill>
                  <a:srgbClr val="D4D4D4"/>
                </a:solidFill>
                <a:latin typeface="Consolas" pitchFamily="34" charset="0"/>
                <a:ea typeface="Consolas" pitchFamily="34" charset="-122"/>
                <a:cs typeface="Consolas" pitchFamily="34" charset="-120"/>
              </a:rPr>
              <a:t>const mockData = {</a:t>
            </a:r>
            <a:endParaRPr lang="en-US" sz="1100" dirty="0"/>
          </a:p>
          <a:p>
            <a:pPr marL="0" indent="0">
              <a:buNone/>
            </a:pPr>
            <a:r>
              <a:rPr lang="en-US" sz="1100" dirty="0">
                <a:solidFill>
                  <a:srgbClr val="D4D4D4"/>
                </a:solidFill>
                <a:latin typeface="Consolas" pitchFamily="34" charset="0"/>
                <a:ea typeface="Consolas" pitchFamily="34" charset="-122"/>
                <a:cs typeface="Consolas" pitchFamily="34" charset="-120"/>
              </a:rPr>
              <a:t>  context: {</a:t>
            </a:r>
            <a:endParaRPr lang="en-US" sz="1100" dirty="0"/>
          </a:p>
          <a:p>
            <a:pPr marL="0" indent="0">
              <a:buNone/>
            </a:pPr>
            <a:r>
              <a:rPr lang="en-US" sz="1100" dirty="0">
                <a:solidFill>
                  <a:srgbClr val="D4D4D4"/>
                </a:solidFill>
                <a:latin typeface="Consolas" pitchFamily="34" charset="0"/>
                <a:ea typeface="Consolas" pitchFamily="34" charset="-122"/>
                <a:cs typeface="Consolas" pitchFamily="34" charset="-120"/>
              </a:rPr>
              <a:t>    workbook: {</a:t>
            </a:r>
            <a:endParaRPr lang="en-US" sz="1100" dirty="0"/>
          </a:p>
          <a:p>
            <a:pPr marL="0" indent="0">
              <a:buNone/>
            </a:pPr>
            <a:r>
              <a:rPr lang="en-US" sz="1100" dirty="0">
                <a:solidFill>
                  <a:srgbClr val="D4D4D4"/>
                </a:solidFill>
                <a:latin typeface="Consolas" pitchFamily="34" charset="0"/>
                <a:ea typeface="Consolas" pitchFamily="34" charset="-122"/>
                <a:cs typeface="Consolas" pitchFamily="34" charset="-120"/>
              </a:rPr>
              <a:t>      range: { address: "Sheet1!B2:D4", format: { fill: {} } },</a:t>
            </a:r>
            <a:endParaRPr lang="en-US" sz="1100" dirty="0"/>
          </a:p>
          <a:p>
            <a:pPr marL="0" indent="0">
              <a:buNone/>
            </a:pPr>
            <a:r>
              <a:rPr lang="en-US" sz="1100" dirty="0">
                <a:solidFill>
                  <a:srgbClr val="D4D4D4"/>
                </a:solidFill>
                <a:latin typeface="Consolas" pitchFamily="34" charset="0"/>
                <a:ea typeface="Consolas" pitchFamily="34" charset="-122"/>
                <a:cs typeface="Consolas" pitchFamily="34" charset="-120"/>
              </a:rPr>
              <a:t>      getSelectedRange: function() { return this.range; },</a:t>
            </a:r>
            <a:endParaRPr lang="en-US" sz="1100" dirty="0"/>
          </a:p>
          <a:p>
            <a:pPr marL="0" indent="0">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D4D4D4"/>
                </a:solidFill>
                <a:latin typeface="Consolas" pitchFamily="34" charset="0"/>
                <a:ea typeface="Consolas" pitchFamily="34" charset="-122"/>
                <a:cs typeface="Consolas" pitchFamily="34" charset="-120"/>
              </a:rPr>
              <a:t>  run: async (cb) =&gt; cb(this.context),</a:t>
            </a:r>
            <a:endParaRPr lang="en-US" sz="1100" dirty="0"/>
          </a:p>
          <a:p>
            <a:pPr marL="0" indent="0">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buNone/>
            </a:pPr>
            <a:r>
              <a:rPr lang="en-US" sz="1100" dirty="0">
                <a:solidFill>
                  <a:srgbClr val="D4D4D4"/>
                </a:solidFill>
                <a:latin typeface="Consolas" pitchFamily="34" charset="0"/>
                <a:ea typeface="Consolas" pitchFamily="34" charset="-122"/>
                <a:cs typeface="Consolas" pitchFamily="34" charset="-120"/>
              </a:rPr>
              <a:t>const excelMock = new OfficeMockObject(mockData);</a:t>
            </a:r>
            <a:endParaRPr lang="en-US" sz="1100" dirty="0"/>
          </a:p>
          <a:p>
            <a:pPr marL="0" indent="0">
              <a:buNone/>
            </a:pPr>
            <a:r>
              <a:rPr lang="en-US" sz="1100" dirty="0">
                <a:solidFill>
                  <a:srgbClr val="D4D4D4"/>
                </a:solidFill>
                <a:latin typeface="Consolas" pitchFamily="34" charset="0"/>
                <a:ea typeface="Consolas" pitchFamily="34" charset="-122"/>
                <a:cs typeface="Consolas" pitchFamily="34" charset="-120"/>
              </a:rPr>
              <a:t>(global as any).Excel = excelMock;</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Praktiska best practices</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Text 3"/>
          <p:cNvSpPr/>
          <p:nvPr/>
        </p:nvSpPr>
        <p:spPr>
          <a:xfrm>
            <a:off x="548640" y="1005840"/>
            <a:ext cx="8046720" cy="3657600"/>
          </a:xfrm>
          <a:prstGeom prst="rect">
            <a:avLst/>
          </a:prstGeom>
          <a:noFill/>
          <a:ln/>
        </p:spPr>
        <p:txBody>
          <a:bodyPr wrap="square" rtlCol="0" anchor="t"/>
          <a:lstStyle/>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En anledning att misslyckas per test — om det går sönder, vet du varför</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Inga Thread.Sleep / setTimeout — injicera IClock eller Date.now-wrapper</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Inga ordningsberoenden — tester ska kunna köras i valfri ordning</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Mocka externa gränser (DB, HTTP, mail) — aldrig er egen domänlogik</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Snabba tester på varje commit — långsammare nattligt eller i PR-byggen</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Skriv testet som om läsaren är trött på fredag eftermiddag</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FluentAssertions (.Should().Be(...)) i .NET om </a:t>
            </a:r>
            <a:r>
              <a:rPr lang="en-US" sz="1500" dirty="0" err="1">
                <a:solidFill>
                  <a:srgbClr val="1A1A1A"/>
                </a:solidFill>
                <a:latin typeface="Calibri" pitchFamily="34" charset="0"/>
                <a:ea typeface="Calibri" pitchFamily="34" charset="-122"/>
                <a:cs typeface="Calibri" pitchFamily="34" charset="-120"/>
              </a:rPr>
              <a:t>teamet</a:t>
            </a:r>
            <a:r>
              <a:rPr lang="en-US" sz="1500" dirty="0">
                <a:solidFill>
                  <a:srgbClr val="1A1A1A"/>
                </a:solidFill>
                <a:latin typeface="Calibri" pitchFamily="34" charset="0"/>
                <a:ea typeface="Calibri" pitchFamily="34" charset="-122"/>
                <a:cs typeface="Calibri" pitchFamily="34" charset="-120"/>
              </a:rPr>
              <a:t> gillar det — ökar läsbarhet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2B2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640080" y="182880"/>
            <a:ext cx="7863840" cy="68580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Var börjar man imorgon?</a:t>
            </a:r>
            <a:endParaRPr lang="en-US" sz="2800" dirty="0"/>
          </a:p>
        </p:txBody>
      </p:sp>
      <p:sp>
        <p:nvSpPr>
          <p:cNvPr id="4" name="Shape 2"/>
          <p:cNvSpPr/>
          <p:nvPr/>
        </p:nvSpPr>
        <p:spPr>
          <a:xfrm>
            <a:off x="640080" y="914400"/>
            <a:ext cx="7863840" cy="18288"/>
          </a:xfrm>
          <a:prstGeom prst="rect">
            <a:avLst/>
          </a:prstGeom>
          <a:solidFill>
            <a:srgbClr val="02A79E"/>
          </a:solidFill>
          <a:ln w="12700">
            <a:solidFill>
              <a:srgbClr val="02A79E"/>
            </a:solidFill>
            <a:prstDash val="solid"/>
          </a:ln>
        </p:spPr>
        <p:txBody>
          <a:bodyPr/>
          <a:lstStyle/>
          <a:p>
            <a:endParaRPr lang="sv-SE"/>
          </a:p>
        </p:txBody>
      </p:sp>
      <p:sp>
        <p:nvSpPr>
          <p:cNvPr id="5" name="Shape 3"/>
          <p:cNvSpPr/>
          <p:nvPr/>
        </p:nvSpPr>
        <p:spPr>
          <a:xfrm>
            <a:off x="548640" y="1051560"/>
            <a:ext cx="502920" cy="502920"/>
          </a:xfrm>
          <a:prstGeom prst="ellipse">
            <a:avLst/>
          </a:prstGeom>
          <a:solidFill>
            <a:srgbClr val="02A79E"/>
          </a:solidFill>
          <a:ln w="12700">
            <a:solidFill>
              <a:srgbClr val="02A79E"/>
            </a:solidFill>
            <a:prstDash val="solid"/>
          </a:ln>
        </p:spPr>
        <p:txBody>
          <a:bodyPr/>
          <a:lstStyle/>
          <a:p>
            <a:endParaRPr lang="sv-SE"/>
          </a:p>
        </p:txBody>
      </p:sp>
      <p:sp>
        <p:nvSpPr>
          <p:cNvPr id="6" name="Text 4"/>
          <p:cNvSpPr/>
          <p:nvPr/>
        </p:nvSpPr>
        <p:spPr>
          <a:xfrm>
            <a:off x="548640" y="10515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Text 5"/>
          <p:cNvSpPr/>
          <p:nvPr/>
        </p:nvSpPr>
        <p:spPr>
          <a:xfrm>
            <a:off x="1188720" y="1033272"/>
            <a:ext cx="731520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Välj en befintlig klass</a:t>
            </a:r>
            <a:endParaRPr lang="en-US" sz="1600" dirty="0"/>
          </a:p>
        </p:txBody>
      </p:sp>
      <p:sp>
        <p:nvSpPr>
          <p:cNvPr id="8" name="Text 6"/>
          <p:cNvSpPr/>
          <p:nvPr/>
        </p:nvSpPr>
        <p:spPr>
          <a:xfrm>
            <a:off x="1188720" y="1325880"/>
            <a:ext cx="7315200" cy="3200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Validering, beräkning, parsning — något med riktig logik</a:t>
            </a:r>
            <a:endParaRPr lang="en-US" sz="1300" dirty="0"/>
          </a:p>
        </p:txBody>
      </p:sp>
      <p:sp>
        <p:nvSpPr>
          <p:cNvPr id="9" name="Shape 7"/>
          <p:cNvSpPr/>
          <p:nvPr/>
        </p:nvSpPr>
        <p:spPr>
          <a:xfrm>
            <a:off x="548640" y="1965960"/>
            <a:ext cx="502920" cy="502920"/>
          </a:xfrm>
          <a:prstGeom prst="ellipse">
            <a:avLst/>
          </a:prstGeom>
          <a:solidFill>
            <a:srgbClr val="02A79E"/>
          </a:solidFill>
          <a:ln w="12700">
            <a:solidFill>
              <a:srgbClr val="02A79E"/>
            </a:solidFill>
            <a:prstDash val="solid"/>
          </a:ln>
        </p:spPr>
        <p:txBody>
          <a:bodyPr/>
          <a:lstStyle/>
          <a:p>
            <a:endParaRPr lang="sv-SE"/>
          </a:p>
        </p:txBody>
      </p:sp>
      <p:sp>
        <p:nvSpPr>
          <p:cNvPr id="10" name="Text 8"/>
          <p:cNvSpPr/>
          <p:nvPr/>
        </p:nvSpPr>
        <p:spPr>
          <a:xfrm>
            <a:off x="548640" y="1965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1" name="Text 9"/>
          <p:cNvSpPr/>
          <p:nvPr/>
        </p:nvSpPr>
        <p:spPr>
          <a:xfrm>
            <a:off x="1188720" y="1947672"/>
            <a:ext cx="731520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Skriv tre tester</a:t>
            </a:r>
            <a:endParaRPr lang="en-US" sz="1600" dirty="0"/>
          </a:p>
        </p:txBody>
      </p:sp>
      <p:sp>
        <p:nvSpPr>
          <p:cNvPr id="12" name="Text 10"/>
          <p:cNvSpPr/>
          <p:nvPr/>
        </p:nvSpPr>
        <p:spPr>
          <a:xfrm>
            <a:off x="1188720" y="2240280"/>
            <a:ext cx="7315200" cy="3200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Glad väg · Fel-input · Edge case</a:t>
            </a:r>
            <a:endParaRPr lang="en-US" sz="1300" dirty="0"/>
          </a:p>
        </p:txBody>
      </p:sp>
      <p:sp>
        <p:nvSpPr>
          <p:cNvPr id="13" name="Shape 11"/>
          <p:cNvSpPr/>
          <p:nvPr/>
        </p:nvSpPr>
        <p:spPr>
          <a:xfrm>
            <a:off x="548640" y="2880360"/>
            <a:ext cx="502920" cy="502920"/>
          </a:xfrm>
          <a:prstGeom prst="ellipse">
            <a:avLst/>
          </a:prstGeom>
          <a:solidFill>
            <a:srgbClr val="02A79E"/>
          </a:solidFill>
          <a:ln w="12700">
            <a:solidFill>
              <a:srgbClr val="02A79E"/>
            </a:solidFill>
            <a:prstDash val="solid"/>
          </a:ln>
        </p:spPr>
        <p:txBody>
          <a:bodyPr/>
          <a:lstStyle/>
          <a:p>
            <a:endParaRPr lang="sv-SE"/>
          </a:p>
        </p:txBody>
      </p:sp>
      <p:sp>
        <p:nvSpPr>
          <p:cNvPr id="14" name="Text 12"/>
          <p:cNvSpPr/>
          <p:nvPr/>
        </p:nvSpPr>
        <p:spPr>
          <a:xfrm>
            <a:off x="548640" y="28803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5" name="Text 13"/>
          <p:cNvSpPr/>
          <p:nvPr/>
        </p:nvSpPr>
        <p:spPr>
          <a:xfrm>
            <a:off x="1188720" y="2862072"/>
            <a:ext cx="731520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Nästa bugg? Skriv testet först</a:t>
            </a:r>
            <a:endParaRPr lang="en-US" sz="1600" dirty="0"/>
          </a:p>
        </p:txBody>
      </p:sp>
      <p:sp>
        <p:nvSpPr>
          <p:cNvPr id="16" name="Text 14"/>
          <p:cNvSpPr/>
          <p:nvPr/>
        </p:nvSpPr>
        <p:spPr>
          <a:xfrm>
            <a:off x="1188720" y="3154680"/>
            <a:ext cx="7315200" cy="3200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Reproducera buggen, se den rödna, fixa, se den grönas</a:t>
            </a:r>
            <a:endParaRPr lang="en-US" sz="1300" dirty="0"/>
          </a:p>
        </p:txBody>
      </p:sp>
      <p:sp>
        <p:nvSpPr>
          <p:cNvPr id="17" name="Shape 15"/>
          <p:cNvSpPr/>
          <p:nvPr/>
        </p:nvSpPr>
        <p:spPr>
          <a:xfrm>
            <a:off x="548640" y="3794760"/>
            <a:ext cx="502920" cy="502920"/>
          </a:xfrm>
          <a:prstGeom prst="ellipse">
            <a:avLst/>
          </a:prstGeom>
          <a:solidFill>
            <a:srgbClr val="02A79E"/>
          </a:solidFill>
          <a:ln w="12700">
            <a:solidFill>
              <a:srgbClr val="02A79E"/>
            </a:solidFill>
            <a:prstDash val="solid"/>
          </a:ln>
        </p:spPr>
        <p:txBody>
          <a:bodyPr/>
          <a:lstStyle/>
          <a:p>
            <a:endParaRPr lang="sv-SE"/>
          </a:p>
        </p:txBody>
      </p:sp>
      <p:sp>
        <p:nvSpPr>
          <p:cNvPr id="18" name="Text 16"/>
          <p:cNvSpPr/>
          <p:nvPr/>
        </p:nvSpPr>
        <p:spPr>
          <a:xfrm>
            <a:off x="548640" y="37947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19" name="Text 17"/>
          <p:cNvSpPr/>
          <p:nvPr/>
        </p:nvSpPr>
        <p:spPr>
          <a:xfrm>
            <a:off x="1188720" y="3776472"/>
            <a:ext cx="731520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Mål för månad 1</a:t>
            </a:r>
            <a:endParaRPr lang="en-US" sz="1600" dirty="0"/>
          </a:p>
        </p:txBody>
      </p:sp>
      <p:sp>
        <p:nvSpPr>
          <p:cNvPr id="20" name="Text 18"/>
          <p:cNvSpPr/>
          <p:nvPr/>
        </p:nvSpPr>
        <p:spPr>
          <a:xfrm>
            <a:off x="1188720" y="4069080"/>
            <a:ext cx="7315200" cy="3200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Kunna refaktorera utan rädsla i minst en modul</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A79E"/>
          </a:solidFill>
          <a:ln w="12700">
            <a:solidFill>
              <a:srgbClr val="02A79E"/>
            </a:solidFill>
            <a:prstDash val="solid"/>
          </a:ln>
        </p:spPr>
        <p:txBody>
          <a:bodyPr/>
          <a:lstStyle/>
          <a:p>
            <a:endParaRPr lang="sv-SE"/>
          </a:p>
        </p:txBody>
      </p:sp>
      <p:sp>
        <p:nvSpPr>
          <p:cNvPr id="3" name="Text 1"/>
          <p:cNvSpPr/>
          <p:nvPr/>
        </p:nvSpPr>
        <p:spPr>
          <a:xfrm>
            <a:off x="548640" y="182880"/>
            <a:ext cx="8046720" cy="685800"/>
          </a:xfrm>
          <a:prstGeom prst="rect">
            <a:avLst/>
          </a:prstGeom>
          <a:noFill/>
          <a:ln/>
        </p:spPr>
        <p:txBody>
          <a:bodyPr wrap="square" lIns="0" tIns="0" rIns="0" bIns="0" rtlCol="0" anchor="ctr"/>
          <a:lstStyle/>
          <a:p>
            <a:pPr marL="0" indent="0" algn="l">
              <a:buNone/>
            </a:pPr>
            <a:r>
              <a:rPr lang="en-US" sz="2600" b="1" dirty="0">
                <a:solidFill>
                  <a:srgbClr val="232B2B"/>
                </a:solidFill>
                <a:latin typeface="Calibri" pitchFamily="34" charset="0"/>
                <a:ea typeface="Calibri" pitchFamily="34" charset="-122"/>
                <a:cs typeface="Calibri" pitchFamily="34" charset="-120"/>
              </a:rPr>
              <a:t>Resurser &amp; frågor</a:t>
            </a:r>
            <a:endParaRPr lang="en-US" sz="2600" dirty="0"/>
          </a:p>
        </p:txBody>
      </p:sp>
      <p:sp>
        <p:nvSpPr>
          <p:cNvPr id="4" name="Shape 2"/>
          <p:cNvSpPr/>
          <p:nvPr/>
        </p:nvSpPr>
        <p:spPr>
          <a:xfrm>
            <a:off x="548640" y="896112"/>
            <a:ext cx="8046720" cy="18288"/>
          </a:xfrm>
          <a:prstGeom prst="rect">
            <a:avLst/>
          </a:prstGeom>
          <a:solidFill>
            <a:srgbClr val="02A79E"/>
          </a:solidFill>
          <a:ln w="12700">
            <a:solidFill>
              <a:srgbClr val="02A79E"/>
            </a:solidFill>
            <a:prstDash val="solid"/>
          </a:ln>
        </p:spPr>
        <p:txBody>
          <a:bodyPr/>
          <a:lstStyle/>
          <a:p>
            <a:endParaRPr lang="sv-SE"/>
          </a:p>
        </p:txBody>
      </p:sp>
      <p:sp>
        <p:nvSpPr>
          <p:cNvPr id="6" name="Text 3"/>
          <p:cNvSpPr/>
          <p:nvPr/>
        </p:nvSpPr>
        <p:spPr>
          <a:xfrm>
            <a:off x="457200" y="1005840"/>
            <a:ext cx="3840480" cy="365760"/>
          </a:xfrm>
          <a:prstGeom prst="rect">
            <a:avLst/>
          </a:prstGeom>
          <a:noFill/>
          <a:ln/>
        </p:spPr>
        <p:txBody>
          <a:bodyPr wrap="square" lIns="0" tIns="0" rIns="0" bIns="0" rtlCol="0" anchor="ctr"/>
          <a:lstStyle/>
          <a:p>
            <a:pPr marL="0" indent="0">
              <a:buNone/>
            </a:pPr>
            <a:r>
              <a:rPr lang="en-US" sz="1400" b="1" dirty="0">
                <a:solidFill>
                  <a:srgbClr val="02A79E"/>
                </a:solidFill>
                <a:latin typeface="Calibri" pitchFamily="34" charset="0"/>
                <a:ea typeface="Calibri" pitchFamily="34" charset="-122"/>
                <a:cs typeface="Calibri" pitchFamily="34" charset="-120"/>
              </a:rPr>
              <a:t>.NET</a:t>
            </a:r>
            <a:endParaRPr lang="en-US" sz="1400" dirty="0"/>
          </a:p>
        </p:txBody>
      </p:sp>
      <p:sp>
        <p:nvSpPr>
          <p:cNvPr id="7" name="Text 4"/>
          <p:cNvSpPr/>
          <p:nvPr/>
        </p:nvSpPr>
        <p:spPr>
          <a:xfrm>
            <a:off x="4846320" y="1005840"/>
            <a:ext cx="3840480" cy="365760"/>
          </a:xfrm>
          <a:prstGeom prst="rect">
            <a:avLst/>
          </a:prstGeom>
          <a:noFill/>
          <a:ln/>
        </p:spPr>
        <p:txBody>
          <a:bodyPr wrap="square" lIns="0" tIns="0" rIns="0" bIns="0" rtlCol="0" anchor="ctr"/>
          <a:lstStyle/>
          <a:p>
            <a:pPr marL="0" indent="0">
              <a:buNone/>
            </a:pPr>
            <a:r>
              <a:rPr lang="en-US" sz="1400" b="1" dirty="0">
                <a:solidFill>
                  <a:srgbClr val="02A79E"/>
                </a:solidFill>
                <a:latin typeface="Calibri" pitchFamily="34" charset="0"/>
                <a:ea typeface="Calibri" pitchFamily="34" charset="-122"/>
                <a:cs typeface="Calibri" pitchFamily="34" charset="-120"/>
              </a:rPr>
              <a:t>TypeScript / Office</a:t>
            </a:r>
            <a:endParaRPr lang="en-US" sz="1400" dirty="0"/>
          </a:p>
        </p:txBody>
      </p:sp>
      <p:sp>
        <p:nvSpPr>
          <p:cNvPr id="8" name="Text 5"/>
          <p:cNvSpPr/>
          <p:nvPr/>
        </p:nvSpPr>
        <p:spPr>
          <a:xfrm>
            <a:off x="457200" y="1417320"/>
            <a:ext cx="3840480" cy="27889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xunit.net — xUnit dokumentation</a:t>
            </a:r>
            <a:endParaRPr lang="en-US" sz="1500" dirty="0"/>
          </a:p>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nsubstitute.github.io — NSubstitute</a:t>
            </a:r>
            <a:endParaRPr lang="en-US" sz="1500" dirty="0"/>
          </a:p>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github.com/bchavez/Bogus — Bogus</a:t>
            </a:r>
            <a:endParaRPr lang="en-US" sz="1500" dirty="0"/>
          </a:p>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Microsoft Learn: Integration tests in ASP.NET Core</a:t>
            </a:r>
            <a:endParaRPr lang="en-US" sz="1500" dirty="0"/>
          </a:p>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Stryker.NET — mutation testing</a:t>
            </a:r>
            <a:endParaRPr lang="en-US" sz="1500" dirty="0"/>
          </a:p>
        </p:txBody>
      </p:sp>
      <p:sp>
        <p:nvSpPr>
          <p:cNvPr id="9" name="Text 6"/>
          <p:cNvSpPr/>
          <p:nvPr/>
        </p:nvSpPr>
        <p:spPr>
          <a:xfrm>
            <a:off x="4846320" y="1417320"/>
            <a:ext cx="3840480" cy="27889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jestjs.io — Jest</a:t>
            </a:r>
            <a:endParaRPr lang="en-US" sz="1500" dirty="0"/>
          </a:p>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Microsoft Learn: Unit testing in Office Add-ins</a:t>
            </a:r>
            <a:endParaRPr lang="en-US" sz="1500" dirty="0"/>
          </a:p>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github.com/OfficeDev/Office-Addin-Scripts — office-addin-mock</a:t>
            </a:r>
            <a:endParaRPr lang="en-US" sz="1500" dirty="0"/>
          </a:p>
          <a:p>
            <a:pPr marL="342900" indent="-342900">
              <a:spcAft>
                <a:spcPts val="500"/>
              </a:spcAft>
              <a:buSzPct val="100000"/>
              <a:buChar char="•"/>
            </a:pPr>
            <a:r>
              <a:rPr lang="en-US" sz="1500" dirty="0">
                <a:solidFill>
                  <a:srgbClr val="1A1A1A"/>
                </a:solidFill>
                <a:latin typeface="Calibri" pitchFamily="34" charset="0"/>
                <a:ea typeface="Calibri" pitchFamily="34" charset="-122"/>
                <a:cs typeface="Calibri" pitchFamily="34" charset="-120"/>
              </a:rPr>
              <a:t>StrykerJS — mutation testing</a:t>
            </a:r>
            <a:endParaRPr lang="en-US" sz="1500" dirty="0"/>
          </a:p>
        </p:txBody>
      </p:sp>
      <p:sp>
        <p:nvSpPr>
          <p:cNvPr id="10" name="Shape 7"/>
          <p:cNvSpPr/>
          <p:nvPr/>
        </p:nvSpPr>
        <p:spPr>
          <a:xfrm>
            <a:off x="4526280" y="1097280"/>
            <a:ext cx="18288" cy="3017520"/>
          </a:xfrm>
          <a:prstGeom prst="rect">
            <a:avLst/>
          </a:prstGeom>
          <a:solidFill>
            <a:srgbClr val="DDDDDD"/>
          </a:solidFill>
          <a:ln w="12700">
            <a:solidFill>
              <a:srgbClr val="DDDDDD"/>
            </a:solidFill>
            <a:prstDash val="solid"/>
          </a:ln>
        </p:spPr>
        <p:txBody>
          <a:bodyPr/>
          <a:lstStyle/>
          <a:p>
            <a:endParaRPr lang="sv-SE"/>
          </a:p>
        </p:txBody>
      </p:sp>
      <p:sp>
        <p:nvSpPr>
          <p:cNvPr id="11" name="Shape 8"/>
          <p:cNvSpPr/>
          <p:nvPr/>
        </p:nvSpPr>
        <p:spPr>
          <a:xfrm>
            <a:off x="2286000" y="4297680"/>
            <a:ext cx="4572000" cy="594360"/>
          </a:xfrm>
          <a:prstGeom prst="rect">
            <a:avLst/>
          </a:prstGeom>
          <a:solidFill>
            <a:srgbClr val="02A79E"/>
          </a:solidFill>
          <a:ln w="12700">
            <a:solidFill>
              <a:srgbClr val="02A79E"/>
            </a:solidFill>
            <a:prstDash val="solid"/>
          </a:ln>
          <a:effectLst>
            <a:outerShdw blurRad="101600" dist="38100" dir="8100000" algn="bl" rotWithShape="0">
              <a:srgbClr val="000000">
                <a:alpha val="12000"/>
              </a:srgbClr>
            </a:outerShdw>
          </a:effectLst>
        </p:spPr>
        <p:txBody>
          <a:bodyPr/>
          <a:lstStyle/>
          <a:p>
            <a:endParaRPr lang="sv-SE"/>
          </a:p>
        </p:txBody>
      </p:sp>
      <p:sp>
        <p:nvSpPr>
          <p:cNvPr id="12" name="Text 9"/>
          <p:cNvSpPr/>
          <p:nvPr/>
        </p:nvSpPr>
        <p:spPr>
          <a:xfrm>
            <a:off x="2286000" y="4297680"/>
            <a:ext cx="457200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Frågor?</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3776</Words>
  <Application>Microsoft Macintosh PowerPoint</Application>
  <PresentationFormat>Bildspel på skärmen (16:9)</PresentationFormat>
  <Paragraphs>299</Paragraphs>
  <Slides>17</Slides>
  <Notes>17</Notes>
  <HiddenSlides>0</HiddenSlides>
  <MMClips>0</MMClips>
  <ScaleCrop>false</ScaleCrop>
  <HeadingPairs>
    <vt:vector size="6" baseType="variant">
      <vt:variant>
        <vt:lpstr>Använt teckensnitt</vt:lpstr>
      </vt:variant>
      <vt:variant>
        <vt:i4>3</vt:i4>
      </vt:variant>
      <vt:variant>
        <vt:lpstr>Tema</vt:lpstr>
      </vt:variant>
      <vt:variant>
        <vt:i4>1</vt:i4>
      </vt:variant>
      <vt:variant>
        <vt:lpstr>Bildrubriker</vt:lpstr>
      </vt:variant>
      <vt:variant>
        <vt:i4>17</vt:i4>
      </vt:variant>
    </vt:vector>
  </HeadingPairs>
  <TitlesOfParts>
    <vt:vector size="21" baseType="lpstr">
      <vt:lpstr>Arial</vt:lpstr>
      <vt:lpstr>Calibri</vt:lpstr>
      <vt:lpstr>Consolas</vt:lpstr>
      <vt:lpstr>Office Theme</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Testning från noll — för .NET- och TypeScript-utvecklare</dc:title>
  <dc:subject>PptxGenJS Presentation</dc:subject>
  <dc:creator>PptxGenJS</dc:creator>
  <cp:lastModifiedBy>Johan Nordberg</cp:lastModifiedBy>
  <cp:revision>2</cp:revision>
  <dcterms:created xsi:type="dcterms:W3CDTF">2026-05-28T18:54:57Z</dcterms:created>
  <dcterms:modified xsi:type="dcterms:W3CDTF">2026-05-28T21:42:11Z</dcterms:modified>
</cp:coreProperties>
</file>